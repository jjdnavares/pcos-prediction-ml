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4630400" cy="8229600"/>
  <p:notesSz cx="8229600" cy="14630400"/>
  <p:embeddedFontLst>
    <p:embeddedFont>
      <p:font typeface="Inter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276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1353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4" Type="http://schemas.openxmlformats.org/officeDocument/2006/relationships/hyperlink" Target="https://github.com/jjdnavares/pcos-prediction-ml/blob/main/README.m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282547"/>
            <a:ext cx="6409134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PCOS Prediction Model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6280190" y="336696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Learning for Early Detection in Community Healthcare Settings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34792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Presenter: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Jumeil John D. Navares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496597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Post Graduate Diploma in AI &amp; Machine Learning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558403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March 2026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8664"/>
            <a:ext cx="5239345" cy="632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Presentation Overview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93790" y="1698903"/>
            <a:ext cx="192762" cy="24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93790" y="2003584"/>
            <a:ext cx="4238387" cy="2286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145625"/>
            <a:ext cx="25304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Problem &amp; Data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93790" y="2560082"/>
            <a:ext cx="4238387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PCOS burden, dataset overview, class distribution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96007" y="1698903"/>
            <a:ext cx="192762" cy="24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196007" y="2003584"/>
            <a:ext cx="4238387" cy="2286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9" name="Text 7"/>
          <p:cNvSpPr/>
          <p:nvPr/>
        </p:nvSpPr>
        <p:spPr>
          <a:xfrm>
            <a:off x="5196007" y="2145625"/>
            <a:ext cx="25304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EDA &amp; Features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196007" y="2560082"/>
            <a:ext cx="4238387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findings, PCA, engineered features, selection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598223" y="1698903"/>
            <a:ext cx="192762" cy="24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598223" y="2003584"/>
            <a:ext cx="4238387" cy="2286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3" name="Text 11"/>
          <p:cNvSpPr/>
          <p:nvPr/>
        </p:nvSpPr>
        <p:spPr>
          <a:xfrm>
            <a:off x="9598223" y="2145625"/>
            <a:ext cx="25304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Modeling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598223" y="2560082"/>
            <a:ext cx="4238387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architecture, 7 algorithms, results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93790" y="3439001"/>
            <a:ext cx="192762" cy="24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04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93790" y="3743682"/>
            <a:ext cx="6439495" cy="2286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3885724"/>
            <a:ext cx="2675334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Explainability &amp; Ethics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93790" y="4300180"/>
            <a:ext cx="6439495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SHAP, LIME, bias audit, fairness metrics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97115" y="3439001"/>
            <a:ext cx="192762" cy="24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05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97115" y="3743682"/>
            <a:ext cx="6439495" cy="2286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21" name="Text 19"/>
          <p:cNvSpPr/>
          <p:nvPr/>
        </p:nvSpPr>
        <p:spPr>
          <a:xfrm>
            <a:off x="7397115" y="3885724"/>
            <a:ext cx="2934533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Deployment &amp; Next Steps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7397115" y="4300180"/>
            <a:ext cx="6439495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 stack, API, limitations, future work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93790" y="4914305"/>
            <a:ext cx="13042821" cy="740926"/>
          </a:xfrm>
          <a:prstGeom prst="roundRect">
            <a:avLst>
              <a:gd name="adj" fmla="val 10929"/>
            </a:avLst>
          </a:prstGeom>
          <a:solidFill>
            <a:srgbClr val="B3E5FF"/>
          </a:solidFill>
          <a:ln/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552" y="5199817"/>
            <a:ext cx="240983" cy="192762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420297" y="5126236"/>
            <a:ext cx="1222355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Objective: Build an interpretable ML model for preliminary PCOS screening — prioritizing recall, transparency, and clinical trust.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1109663" y="5935861"/>
            <a:ext cx="3579257" cy="636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00"/>
              </a:lnSpc>
              <a:buNone/>
            </a:pPr>
            <a:r>
              <a:rPr lang="en-US" sz="5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541</a:t>
            </a:r>
            <a:endParaRPr lang="en-US" sz="5000" dirty="0"/>
          </a:p>
        </p:txBody>
      </p:sp>
      <p:sp>
        <p:nvSpPr>
          <p:cNvPr id="27" name="Text 24"/>
          <p:cNvSpPr/>
          <p:nvPr/>
        </p:nvSpPr>
        <p:spPr>
          <a:xfrm>
            <a:off x="1634014" y="6791206"/>
            <a:ext cx="25304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Patients</a:t>
            </a:r>
            <a:endParaRPr lang="en-US" sz="1950" dirty="0"/>
          </a:p>
        </p:txBody>
      </p:sp>
      <p:sp>
        <p:nvSpPr>
          <p:cNvPr id="28" name="Text 25"/>
          <p:cNvSpPr/>
          <p:nvPr/>
        </p:nvSpPr>
        <p:spPr>
          <a:xfrm>
            <a:off x="793790" y="7205663"/>
            <a:ext cx="4211003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Size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5525453" y="5935861"/>
            <a:ext cx="3579376" cy="636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00"/>
              </a:lnSpc>
              <a:buNone/>
            </a:pPr>
            <a:r>
              <a:rPr lang="en-US" sz="5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7</a:t>
            </a:r>
            <a:endParaRPr lang="en-US" sz="5000" dirty="0"/>
          </a:p>
        </p:txBody>
      </p:sp>
      <p:sp>
        <p:nvSpPr>
          <p:cNvPr id="30" name="Text 27"/>
          <p:cNvSpPr/>
          <p:nvPr/>
        </p:nvSpPr>
        <p:spPr>
          <a:xfrm>
            <a:off x="6049923" y="6791206"/>
            <a:ext cx="25304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Models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5209580" y="7205663"/>
            <a:ext cx="421112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Compared &amp; Tuned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9941362" y="5935861"/>
            <a:ext cx="3579257" cy="636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00"/>
              </a:lnSpc>
              <a:buNone/>
            </a:pPr>
            <a:r>
              <a:rPr lang="en-US" sz="5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88.9%</a:t>
            </a:r>
            <a:endParaRPr lang="en-US" sz="5000" dirty="0"/>
          </a:p>
        </p:txBody>
      </p:sp>
      <p:sp>
        <p:nvSpPr>
          <p:cNvPr id="33" name="Text 30"/>
          <p:cNvSpPr/>
          <p:nvPr/>
        </p:nvSpPr>
        <p:spPr>
          <a:xfrm>
            <a:off x="10465713" y="6791206"/>
            <a:ext cx="25304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Recall</a:t>
            </a:r>
            <a:endParaRPr lang="en-US" sz="1950" dirty="0"/>
          </a:p>
        </p:txBody>
      </p:sp>
      <p:sp>
        <p:nvSpPr>
          <p:cNvPr id="34" name="Text 31"/>
          <p:cNvSpPr/>
          <p:nvPr/>
        </p:nvSpPr>
        <p:spPr>
          <a:xfrm>
            <a:off x="9625489" y="7205663"/>
            <a:ext cx="4211003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Recall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4356" y="630912"/>
            <a:ext cx="7226260" cy="738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Problem We're Solving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6274356" y="1704856"/>
            <a:ext cx="3672245" cy="2404348"/>
          </a:xfrm>
          <a:prstGeom prst="roundRect">
            <a:avLst>
              <a:gd name="adj" fmla="val 3933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07123" y="1937623"/>
            <a:ext cx="2955131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6–20%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6507123" y="2441019"/>
            <a:ext cx="3206710" cy="1076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women of reproductive age affected by PCOS globally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0081" y="1704856"/>
            <a:ext cx="3672364" cy="2404348"/>
          </a:xfrm>
          <a:prstGeom prst="roundRect">
            <a:avLst>
              <a:gd name="adj" fmla="val 3933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2848" y="1937623"/>
            <a:ext cx="2955131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Urban Gap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10402848" y="2441019"/>
            <a:ext cx="3206829" cy="1435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Specialist access in the Philippines is concentrated in major cities, leaving rural communities underserved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74356" y="4332684"/>
            <a:ext cx="7568089" cy="1686639"/>
          </a:xfrm>
          <a:prstGeom prst="roundRect">
            <a:avLst>
              <a:gd name="adj" fmla="val 5607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07123" y="4565452"/>
            <a:ext cx="2955131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Cascade Risk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6507123" y="5068848"/>
            <a:ext cx="7102554" cy="71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Delayed diagnosis leads to diabetes, infertility, and cardiovascular disease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6274356" y="6270665"/>
            <a:ext cx="7568089" cy="358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Task: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Binary classification (PCOS vs. Non-PCOS)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6274356" y="6880860"/>
            <a:ext cx="7568089" cy="71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Metric: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Recall — minimizing missed cases is paramount in a screening context.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1647" y="621983"/>
            <a:ext cx="5937647" cy="742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Dataset at a Glance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1647" y="1956078"/>
            <a:ext cx="3011091" cy="2193846"/>
          </a:xfrm>
          <a:prstGeom prst="roundRect">
            <a:avLst>
              <a:gd name="adj" fmla="val 4330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2D4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8226" y="2212657"/>
            <a:ext cx="2497931" cy="371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Source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48226" y="2809280"/>
            <a:ext cx="2497931" cy="1084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Kaggle PCOS dataset, 10 hospitals, Kerala, India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4028242" y="1956078"/>
            <a:ext cx="3011091" cy="2193846"/>
          </a:xfrm>
          <a:prstGeom prst="roundRect">
            <a:avLst>
              <a:gd name="adj" fmla="val 4330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2D4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84821" y="2212657"/>
            <a:ext cx="2497931" cy="371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Size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4284821" y="2809280"/>
            <a:ext cx="2497931" cy="1084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541 patients · 41 clinical features across 5 domains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1647" y="4375428"/>
            <a:ext cx="6247686" cy="1832491"/>
          </a:xfrm>
          <a:prstGeom prst="roundRect">
            <a:avLst>
              <a:gd name="adj" fmla="val 5184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2D4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8226" y="4632007"/>
            <a:ext cx="2968823" cy="371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Quality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048226" y="5228630"/>
            <a:ext cx="5734526" cy="722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&lt;5% missing values; Excel formula errors in 2 columns; 1 phantom column removed</a:t>
            </a:r>
            <a:endParaRPr lang="en-US" sz="17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8688" y="2038294"/>
            <a:ext cx="6248400" cy="3469506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1915017" y="3503405"/>
            <a:ext cx="1165024" cy="177535"/>
          </a:xfrm>
          <a:prstGeom prst="roundRect">
            <a:avLst>
              <a:gd name="adj" fmla="val 72107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72568" y="3542843"/>
            <a:ext cx="98659" cy="9865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104113" y="3528070"/>
            <a:ext cx="918376" cy="128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Non-PCOS·67.28%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12582891" y="3528070"/>
            <a:ext cx="439597" cy="128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·67.28%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12622329" y="3528070"/>
            <a:ext cx="26464" cy="128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18" name="Shape 14"/>
          <p:cNvSpPr/>
          <p:nvPr/>
        </p:nvSpPr>
        <p:spPr>
          <a:xfrm>
            <a:off x="11915017" y="3746712"/>
            <a:ext cx="937646" cy="177535"/>
          </a:xfrm>
          <a:prstGeom prst="roundRect">
            <a:avLst>
              <a:gd name="adj" fmla="val 72107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72568" y="3786150"/>
            <a:ext cx="98659" cy="9865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104113" y="3771377"/>
            <a:ext cx="690998" cy="128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PCOS·32.72%</a:t>
            </a:r>
            <a:endParaRPr lang="en-US" sz="700" dirty="0"/>
          </a:p>
        </p:txBody>
      </p:sp>
      <p:sp>
        <p:nvSpPr>
          <p:cNvPr id="21" name="Text 16"/>
          <p:cNvSpPr/>
          <p:nvPr/>
        </p:nvSpPr>
        <p:spPr>
          <a:xfrm>
            <a:off x="12355514" y="3771377"/>
            <a:ext cx="439597" cy="128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·32.72%</a:t>
            </a:r>
            <a:endParaRPr lang="en-US" sz="700" dirty="0"/>
          </a:p>
        </p:txBody>
      </p:sp>
      <p:sp>
        <p:nvSpPr>
          <p:cNvPr id="22" name="Text 17"/>
          <p:cNvSpPr/>
          <p:nvPr/>
        </p:nvSpPr>
        <p:spPr>
          <a:xfrm>
            <a:off x="12394951" y="3771377"/>
            <a:ext cx="26464" cy="128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23" name="Text 18"/>
          <p:cNvSpPr/>
          <p:nvPr/>
        </p:nvSpPr>
        <p:spPr>
          <a:xfrm>
            <a:off x="7598688" y="5708452"/>
            <a:ext cx="6247686" cy="722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 distribution: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32.7% PCOS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vs. 67.3% Non-PCOS — a 1:2 imbalance addressed with SMOTE.</a:t>
            </a:r>
            <a:endParaRPr lang="en-US" sz="1750" dirty="0"/>
          </a:p>
        </p:txBody>
      </p:sp>
      <p:sp>
        <p:nvSpPr>
          <p:cNvPr id="24" name="Text 19"/>
          <p:cNvSpPr/>
          <p:nvPr/>
        </p:nvSpPr>
        <p:spPr>
          <a:xfrm>
            <a:off x="791647" y="6887885"/>
            <a:ext cx="13047107" cy="722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📄</a:t>
            </a:r>
            <a:r>
              <a:rPr lang="en-US" sz="17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Refer to: https://github.com/jjdnavares/pcos-prediction-ml/docs/DATA_DICTIONARY.md for complete variable definitions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9258" y="968812"/>
            <a:ext cx="5470207" cy="683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EDA Key Findings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29258" y="2130862"/>
            <a:ext cx="3577590" cy="341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Top Discriminating Features</a:t>
            </a:r>
            <a:endParaRPr lang="en-US" sz="2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7363" y="2698313"/>
            <a:ext cx="312539" cy="3125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06485" y="2687955"/>
            <a:ext cx="5654516" cy="63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Follicle counts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(L &amp; R) — strongest correlation with PCOS label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7363" y="3720703"/>
            <a:ext cx="312539" cy="31253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06485" y="3710345"/>
            <a:ext cx="5654516" cy="319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Cycle regularity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highly predictive of PCOS status</a:t>
            </a:r>
            <a:endParaRPr lang="en-US" sz="1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7363" y="4739045"/>
            <a:ext cx="312539" cy="31253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406485" y="4728686"/>
            <a:ext cx="5654516" cy="63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Skin darkening, hirsutism, weight gain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2–3× higher prevalence in PCOS group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7363" y="5761434"/>
            <a:ext cx="312539" cy="31253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406485" y="5751076"/>
            <a:ext cx="5654516" cy="63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LH/FSH ratio &amp; AMH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elevated in PCOS patients, consistent with clinical literature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7577018" y="2130862"/>
            <a:ext cx="4085511" cy="341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Dimensionality Reduction (PCA)</a:t>
            </a:r>
            <a:endParaRPr lang="en-US" sz="21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7018" y="2687955"/>
            <a:ext cx="6332220" cy="359936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577018" y="6448901"/>
            <a:ext cx="6331744" cy="63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 of variance captured in just </a:t>
            </a: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components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t-SNE confirms partial class separability in 2D space.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7967"/>
            <a:ext cx="7482483" cy="632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Feature Engineering &amp; Selection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93790" y="1920121"/>
            <a:ext cx="4450913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6 Domain-Driven Engineered Features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793790" y="2420660"/>
            <a:ext cx="6286262" cy="4349829"/>
          </a:xfrm>
          <a:prstGeom prst="roundRect">
            <a:avLst>
              <a:gd name="adj" fmla="val 186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2428280"/>
            <a:ext cx="6271022" cy="49696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94172" y="2534126"/>
            <a:ext cx="2119074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506391" y="2534126"/>
            <a:ext cx="3373279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Clinical Rationale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01410" y="2925247"/>
            <a:ext cx="6271022" cy="78224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94172" y="3031093"/>
            <a:ext cx="2119074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LH/FSH Ratio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06391" y="3031093"/>
            <a:ext cx="3373279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Ratio &gt;2 indicates hormonal imbalance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1410" y="3707487"/>
            <a:ext cx="6271022" cy="49696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94172" y="3813334"/>
            <a:ext cx="2119074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Follicle Count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06391" y="3813334"/>
            <a:ext cx="3373279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Rotterdam criterion (≥12 diagnostic)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1410" y="4204454"/>
            <a:ext cx="6271022" cy="49696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94172" y="4310301"/>
            <a:ext cx="2119074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WHR Recalculated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06391" y="4310301"/>
            <a:ext cx="3373279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 obesity indicator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01410" y="4701421"/>
            <a:ext cx="6271022" cy="7822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94172" y="4807268"/>
            <a:ext cx="2119074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Symptom Burden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506391" y="4807268"/>
            <a:ext cx="3373279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Composite severity score (5 binary symptoms)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01410" y="5483662"/>
            <a:ext cx="6271022" cy="78224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94172" y="5589508"/>
            <a:ext cx="2119074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 Group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506391" y="5589508"/>
            <a:ext cx="3373279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Age-stratified risk (18–25, 26–35, 36+)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01410" y="6265902"/>
            <a:ext cx="6271022" cy="49696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994172" y="6371749"/>
            <a:ext cx="2119074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BMI Category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506391" y="6371749"/>
            <a:ext cx="3373279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standard weight classification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557968" y="1920121"/>
            <a:ext cx="4513064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3-Method Consensus Feature Selection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7557968" y="2420660"/>
            <a:ext cx="3061216" cy="1451372"/>
          </a:xfrm>
          <a:prstGeom prst="roundRect">
            <a:avLst>
              <a:gd name="adj" fmla="val 557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58351" y="2621042"/>
            <a:ext cx="25304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RFE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7758351" y="3101102"/>
            <a:ext cx="2660452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Recursive Feature Elimination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0783014" y="2420660"/>
            <a:ext cx="3061216" cy="1451372"/>
          </a:xfrm>
          <a:prstGeom prst="roundRect">
            <a:avLst>
              <a:gd name="adj" fmla="val 557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83397" y="2621042"/>
            <a:ext cx="25304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MI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0983397" y="3101102"/>
            <a:ext cx="266045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Mutual Information scoring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557968" y="4035862"/>
            <a:ext cx="6286262" cy="1166098"/>
          </a:xfrm>
          <a:prstGeom prst="roundRect">
            <a:avLst>
              <a:gd name="adj" fmla="val 6944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58351" y="4236244"/>
            <a:ext cx="25304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Corr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7758351" y="4716304"/>
            <a:ext cx="5885498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Correlation with target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557968" y="5386268"/>
            <a:ext cx="628626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 passing ≥2/3 votes retained → </a:t>
            </a: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final features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7557968" y="5855851"/>
            <a:ext cx="6286262" cy="1311473"/>
          </a:xfrm>
          <a:prstGeom prst="roundRect">
            <a:avLst>
              <a:gd name="adj" fmla="val 6175"/>
            </a:avLst>
          </a:prstGeom>
          <a:solidFill>
            <a:srgbClr val="B3E5FF"/>
          </a:solidFill>
          <a:ln/>
        </p:spPr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0731" y="6141363"/>
            <a:ext cx="240983" cy="192762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8184475" y="6067782"/>
            <a:ext cx="5466993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integrity:</a:t>
            </a:r>
            <a:r>
              <a:rPr lang="en-US" sz="15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Stratified 80/20 split · SMOTE applied after split (no leakage) · StandardScaler fitted on training data only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3321"/>
            <a:ext cx="5647611" cy="483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Model Selection &amp; Methodology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93790" y="1375291"/>
            <a:ext cx="2322076" cy="290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Pipeline Architecture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2068" y="1809155"/>
            <a:ext cx="8206264" cy="3079313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20258" y="2593511"/>
            <a:ext cx="423879" cy="4238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842607" y="4134976"/>
            <a:ext cx="1237729" cy="250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Scale</a:t>
            </a:r>
            <a:endParaRPr lang="en-US" sz="15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68461" y="2594306"/>
            <a:ext cx="423879" cy="42387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82731" y="4009799"/>
            <a:ext cx="1237728" cy="500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Stratified Split</a:t>
            </a:r>
            <a:endParaRPr lang="en-US" sz="15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17062" y="2594306"/>
            <a:ext cx="423879" cy="423879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731331" y="4134976"/>
            <a:ext cx="1237728" cy="250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Features</a:t>
            </a:r>
            <a:endParaRPr lang="en-US" sz="15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65663" y="2594306"/>
            <a:ext cx="423880" cy="423879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179932" y="4134976"/>
            <a:ext cx="1237728" cy="250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Clean</a:t>
            </a:r>
            <a:endParaRPr lang="en-US" sz="155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05786" y="2594306"/>
            <a:ext cx="423880" cy="423879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3594623" y="4134976"/>
            <a:ext cx="1237728" cy="250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Load</a:t>
            </a:r>
            <a:endParaRPr lang="en-US" sz="1550" dirty="0"/>
          </a:p>
        </p:txBody>
      </p:sp>
      <p:sp>
        <p:nvSpPr>
          <p:cNvPr id="15" name="Text 7"/>
          <p:cNvSpPr/>
          <p:nvPr/>
        </p:nvSpPr>
        <p:spPr>
          <a:xfrm>
            <a:off x="793790" y="4996220"/>
            <a:ext cx="130428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robust ML pipeline ensures data integrity and prevents leakage, moving from raw data to final model evaluation.</a:t>
            </a:r>
            <a:endParaRPr lang="en-US" sz="1150" dirty="0"/>
          </a:p>
        </p:txBody>
      </p:sp>
      <p:sp>
        <p:nvSpPr>
          <p:cNvPr id="16" name="Text 8"/>
          <p:cNvSpPr/>
          <p:nvPr/>
        </p:nvSpPr>
        <p:spPr>
          <a:xfrm>
            <a:off x="793790" y="5394246"/>
            <a:ext cx="2322076" cy="290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Training Protocol</a:t>
            </a:r>
            <a:endParaRPr lang="en-US" sz="1800" dirty="0"/>
          </a:p>
        </p:txBody>
      </p:sp>
      <p:sp>
        <p:nvSpPr>
          <p:cNvPr id="17" name="Text 9"/>
          <p:cNvSpPr/>
          <p:nvPr/>
        </p:nvSpPr>
        <p:spPr>
          <a:xfrm>
            <a:off x="793790" y="5780127"/>
            <a:ext cx="6341626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algorithms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evaluated with GridSearchCV (5-fold stratified CV)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Optimization target: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Recall (minimize false negatives)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Hyperparameter tuning: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Exhaustive grid search per model</a:t>
            </a:r>
            <a:endParaRPr lang="en-US" sz="1150" dirty="0"/>
          </a:p>
        </p:txBody>
      </p:sp>
      <p:sp>
        <p:nvSpPr>
          <p:cNvPr id="18" name="Text 10"/>
          <p:cNvSpPr/>
          <p:nvPr/>
        </p:nvSpPr>
        <p:spPr>
          <a:xfrm>
            <a:off x="7502604" y="5394246"/>
            <a:ext cx="2322076" cy="290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Models Evaluated</a:t>
            </a:r>
            <a:endParaRPr lang="en-US" sz="1800" dirty="0"/>
          </a:p>
        </p:txBody>
      </p:sp>
      <p:sp>
        <p:nvSpPr>
          <p:cNvPr id="19" name="Text 11"/>
          <p:cNvSpPr/>
          <p:nvPr/>
        </p:nvSpPr>
        <p:spPr>
          <a:xfrm>
            <a:off x="7502604" y="5780127"/>
            <a:ext cx="6341626" cy="156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 Regression (L1, C=0.01)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Tree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Gradient Boosting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XGBoost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LightGBM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SVM (RBF &amp; Linear kernels)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10947"/>
            <a:ext cx="5519976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Model Comparison Results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93790" y="1724263"/>
            <a:ext cx="130428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set performance on </a:t>
            </a: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109 held-out patients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Logistic Regression selected as the deployment model.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93790" y="2105858"/>
            <a:ext cx="13042821" cy="2858929"/>
          </a:xfrm>
          <a:prstGeom prst="roundRect">
            <a:avLst>
              <a:gd name="adj" fmla="val 249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2113478"/>
            <a:ext cx="13027581" cy="4062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71788" y="2197537"/>
            <a:ext cx="330386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23316" y="2197537"/>
            <a:ext cx="147613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7115" y="2197537"/>
            <a:ext cx="147613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70915" y="2197537"/>
            <a:ext cx="147613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Recall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94714" y="2197537"/>
            <a:ext cx="147613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918513" y="2197537"/>
            <a:ext cx="174045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AUC-ROC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1410" y="2519720"/>
            <a:ext cx="13027581" cy="40624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71788" y="2603778"/>
            <a:ext cx="330386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 Logistic Regression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23316" y="2603778"/>
            <a:ext cx="147613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81.7%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7115" y="2603778"/>
            <a:ext cx="147613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66.7%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70915" y="2603778"/>
            <a:ext cx="147613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88.9%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94714" y="2603778"/>
            <a:ext cx="147613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76.2%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918513" y="2603778"/>
            <a:ext cx="174045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93.0%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1410" y="2925961"/>
            <a:ext cx="13027581" cy="4062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71788" y="3010019"/>
            <a:ext cx="330386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Gradient Boosting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23316" y="3010019"/>
            <a:ext cx="147613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93.6%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47115" y="3010019"/>
            <a:ext cx="147613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93.9%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70915" y="3010019"/>
            <a:ext cx="147613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86.1%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94714" y="3010019"/>
            <a:ext cx="147613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89.9%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918513" y="3010019"/>
            <a:ext cx="174045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95.1%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01410" y="3332202"/>
            <a:ext cx="13027581" cy="40624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71788" y="3416260"/>
            <a:ext cx="330386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23316" y="3416260"/>
            <a:ext cx="147613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92.7%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47115" y="3416260"/>
            <a:ext cx="147613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91.2%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70915" y="3416260"/>
            <a:ext cx="147613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86.1%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094714" y="3416260"/>
            <a:ext cx="147613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88.6%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918513" y="3416260"/>
            <a:ext cx="174045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94.3%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01410" y="3738443"/>
            <a:ext cx="13027581" cy="4062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971788" y="3822502"/>
            <a:ext cx="330386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LightGBM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623316" y="3822502"/>
            <a:ext cx="147613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92.7%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47115" y="3822502"/>
            <a:ext cx="147613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91.2%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270915" y="3822502"/>
            <a:ext cx="147613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86.1%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094714" y="3822502"/>
            <a:ext cx="147613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88.6%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1918513" y="3822502"/>
            <a:ext cx="174045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94.5%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01410" y="4144685"/>
            <a:ext cx="13027581" cy="40624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971788" y="4228743"/>
            <a:ext cx="330386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XGBoost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623316" y="4228743"/>
            <a:ext cx="147613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91.7%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447115" y="4228743"/>
            <a:ext cx="147613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88.6%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270915" y="4228743"/>
            <a:ext cx="147613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86.1%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0094714" y="4228743"/>
            <a:ext cx="147613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87.3%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1918513" y="4228743"/>
            <a:ext cx="174045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94.2%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801410" y="4550926"/>
            <a:ext cx="13027581" cy="4062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971788" y="4634984"/>
            <a:ext cx="330386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623316" y="4634984"/>
            <a:ext cx="147613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90.8%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447115" y="4634984"/>
            <a:ext cx="147613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86.1%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270915" y="4634984"/>
            <a:ext cx="147613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86.1%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10094714" y="4634984"/>
            <a:ext cx="147613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86.1%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11918513" y="4634984"/>
            <a:ext cx="174045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93.9%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1323975" y="5193268"/>
            <a:ext cx="3180874" cy="561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88.9%</a:t>
            </a:r>
            <a:endParaRPr lang="en-US" sz="4400" dirty="0"/>
          </a:p>
        </p:txBody>
      </p:sp>
      <p:sp>
        <p:nvSpPr>
          <p:cNvPr id="55" name="Text 53"/>
          <p:cNvSpPr/>
          <p:nvPr/>
        </p:nvSpPr>
        <p:spPr>
          <a:xfrm>
            <a:off x="1797963" y="5935266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Recall</a:t>
            </a:r>
            <a:endParaRPr lang="en-US" sz="1750" dirty="0"/>
          </a:p>
        </p:txBody>
      </p:sp>
      <p:sp>
        <p:nvSpPr>
          <p:cNvPr id="56" name="Text 54"/>
          <p:cNvSpPr/>
          <p:nvPr/>
        </p:nvSpPr>
        <p:spPr>
          <a:xfrm>
            <a:off x="5724644" y="5193268"/>
            <a:ext cx="3180993" cy="561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93.0%</a:t>
            </a:r>
            <a:endParaRPr lang="en-US" sz="4400" dirty="0"/>
          </a:p>
        </p:txBody>
      </p:sp>
      <p:sp>
        <p:nvSpPr>
          <p:cNvPr id="57" name="Text 55"/>
          <p:cNvSpPr/>
          <p:nvPr/>
        </p:nvSpPr>
        <p:spPr>
          <a:xfrm>
            <a:off x="6198751" y="5935266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AUC-ROC</a:t>
            </a:r>
            <a:endParaRPr lang="en-US" sz="1750" dirty="0"/>
          </a:p>
        </p:txBody>
      </p:sp>
      <p:sp>
        <p:nvSpPr>
          <p:cNvPr id="58" name="Text 56"/>
          <p:cNvSpPr/>
          <p:nvPr/>
        </p:nvSpPr>
        <p:spPr>
          <a:xfrm>
            <a:off x="10125432" y="5193268"/>
            <a:ext cx="3180993" cy="561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66.7%</a:t>
            </a:r>
            <a:endParaRPr lang="en-US" sz="4400" dirty="0"/>
          </a:p>
        </p:txBody>
      </p:sp>
      <p:sp>
        <p:nvSpPr>
          <p:cNvPr id="59" name="Text 57"/>
          <p:cNvSpPr/>
          <p:nvPr/>
        </p:nvSpPr>
        <p:spPr>
          <a:xfrm>
            <a:off x="10599539" y="5935266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Precision</a:t>
            </a:r>
            <a:endParaRPr lang="en-US" sz="1750" dirty="0"/>
          </a:p>
        </p:txBody>
      </p:sp>
      <p:sp>
        <p:nvSpPr>
          <p:cNvPr id="60" name="Shape 58"/>
          <p:cNvSpPr/>
          <p:nvPr/>
        </p:nvSpPr>
        <p:spPr>
          <a:xfrm>
            <a:off x="793790" y="6357699"/>
            <a:ext cx="13042821" cy="960834"/>
          </a:xfrm>
          <a:prstGeom prst="roundRect">
            <a:avLst>
              <a:gd name="adj" fmla="val 7436"/>
            </a:avLst>
          </a:prstGeom>
          <a:solidFill>
            <a:srgbClr val="B3E5FF"/>
          </a:solidFill>
          <a:ln/>
        </p:spPr>
      </p:sp>
      <p:pic>
        <p:nvPicPr>
          <p:cNvPr id="6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811" y="6604278"/>
            <a:ext cx="212646" cy="170021"/>
          </a:xfrm>
          <a:prstGeom prst="rect">
            <a:avLst/>
          </a:prstGeom>
        </p:spPr>
      </p:pic>
      <p:sp>
        <p:nvSpPr>
          <p:cNvPr id="62" name="Text 59"/>
          <p:cNvSpPr/>
          <p:nvPr/>
        </p:nvSpPr>
        <p:spPr>
          <a:xfrm>
            <a:off x="1346478" y="6527721"/>
            <a:ext cx="1232011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 Logistic Regression chosen for highest recall &amp; full interpretability.</a:t>
            </a:r>
            <a:endParaRPr lang="en-US" sz="1300" dirty="0"/>
          </a:p>
        </p:txBody>
      </p:sp>
      <p:sp>
        <p:nvSpPr>
          <p:cNvPr id="63" name="Text 60"/>
          <p:cNvSpPr/>
          <p:nvPr/>
        </p:nvSpPr>
        <p:spPr>
          <a:xfrm>
            <a:off x="1346478" y="6880622"/>
            <a:ext cx="1232011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False positives → specialist referral; false negatives → missed entirely.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94611"/>
            <a:ext cx="6989207" cy="52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Feature Importance &amp; Explainability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793790" y="1437918"/>
            <a:ext cx="13042821" cy="952619"/>
          </a:xfrm>
          <a:prstGeom prst="roundRect">
            <a:avLst>
              <a:gd name="adj" fmla="val 7000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6650" y="1460778"/>
            <a:ext cx="635079" cy="906899"/>
          </a:xfrm>
          <a:prstGeom prst="roundRect">
            <a:avLst>
              <a:gd name="adj" fmla="val 6181"/>
            </a:avLst>
          </a:prstGeom>
          <a:solidFill>
            <a:srgbClr val="CCEE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317" y="1795105"/>
            <a:ext cx="238125" cy="238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62814" y="1619488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Model Coefficients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62814" y="1946553"/>
            <a:ext cx="12092226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direction &amp; magnitude — bar chart of scaled coefficients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93790" y="2501622"/>
            <a:ext cx="13042821" cy="952619"/>
          </a:xfrm>
          <a:prstGeom prst="roundRect">
            <a:avLst>
              <a:gd name="adj" fmla="val 7000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16650" y="2524482"/>
            <a:ext cx="635079" cy="906899"/>
          </a:xfrm>
          <a:prstGeom prst="roundRect">
            <a:avLst>
              <a:gd name="adj" fmla="val 6181"/>
            </a:avLst>
          </a:prstGeom>
          <a:solidFill>
            <a:srgbClr val="CCEE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1317" y="2858810"/>
            <a:ext cx="238125" cy="238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62814" y="2683192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SHAP Global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562814" y="3010257"/>
            <a:ext cx="12092226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importance ranking — bee swarm &amp; bar plots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93790" y="3565327"/>
            <a:ext cx="13042821" cy="952619"/>
          </a:xfrm>
          <a:prstGeom prst="roundRect">
            <a:avLst>
              <a:gd name="adj" fmla="val 7000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16650" y="3588187"/>
            <a:ext cx="635079" cy="906899"/>
          </a:xfrm>
          <a:prstGeom prst="roundRect">
            <a:avLst>
              <a:gd name="adj" fmla="val 6181"/>
            </a:avLst>
          </a:prstGeom>
          <a:solidFill>
            <a:srgbClr val="CCEEF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1317" y="3922514"/>
            <a:ext cx="238125" cy="2381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62814" y="3746897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SHAP Local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562814" y="4073962"/>
            <a:ext cx="12092226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Individual prediction breakdown — waterfall plots per patient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793790" y="4629031"/>
            <a:ext cx="13042821" cy="952619"/>
          </a:xfrm>
          <a:prstGeom prst="roundRect">
            <a:avLst>
              <a:gd name="adj" fmla="val 7000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16650" y="4651891"/>
            <a:ext cx="635079" cy="906899"/>
          </a:xfrm>
          <a:prstGeom prst="roundRect">
            <a:avLst>
              <a:gd name="adj" fmla="val 6181"/>
            </a:avLst>
          </a:prstGeom>
          <a:solidFill>
            <a:srgbClr val="CCEEF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1317" y="4986218"/>
            <a:ext cx="238125" cy="23812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62814" y="4810601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LIME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1562814" y="5137666"/>
            <a:ext cx="12092226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Instance-level explanations — per-patient feature contributions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793790" y="5692735"/>
            <a:ext cx="13042821" cy="952619"/>
          </a:xfrm>
          <a:prstGeom prst="roundRect">
            <a:avLst>
              <a:gd name="adj" fmla="val 7000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816650" y="5715595"/>
            <a:ext cx="635079" cy="906899"/>
          </a:xfrm>
          <a:prstGeom prst="roundRect">
            <a:avLst>
              <a:gd name="adj" fmla="val 6181"/>
            </a:avLst>
          </a:prstGeom>
          <a:solidFill>
            <a:srgbClr val="CCEEFF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1317" y="6049923"/>
            <a:ext cx="238125" cy="23812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62814" y="5874306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PDP / ICE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1562814" y="6201370"/>
            <a:ext cx="12092226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Marginal effect curves for top 6 features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793790" y="6770370"/>
            <a:ext cx="3177302" cy="764619"/>
          </a:xfrm>
          <a:prstGeom prst="roundRect">
            <a:avLst>
              <a:gd name="adj" fmla="val 8722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960120" y="6936700"/>
            <a:ext cx="284464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Follicle Counts · Top SHAP feature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4082177" y="6770370"/>
            <a:ext cx="3177421" cy="764619"/>
          </a:xfrm>
          <a:prstGeom prst="roundRect">
            <a:avLst>
              <a:gd name="adj" fmla="val 8722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4248507" y="6936700"/>
            <a:ext cx="2844760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Skin Darkening · Strong signal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7370683" y="6770370"/>
            <a:ext cx="3177421" cy="764619"/>
          </a:xfrm>
          <a:prstGeom prst="roundRect">
            <a:avLst>
              <a:gd name="adj" fmla="val 8722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7537013" y="6936700"/>
            <a:ext cx="2844760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Symptom Burden · Engineered feature ranks highly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10659189" y="6770370"/>
            <a:ext cx="3177421" cy="764619"/>
          </a:xfrm>
          <a:prstGeom prst="roundRect">
            <a:avLst>
              <a:gd name="adj" fmla="val 8722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10825520" y="6936700"/>
            <a:ext cx="2844760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SHAP ≈ Rotterdam · Builds clinical trust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07588"/>
            <a:ext cx="4976455" cy="52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Bias Auditing &amp; Ethical AI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1742956" y="1599605"/>
            <a:ext cx="4429363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00"/>
              </a:lnSpc>
              <a:buNone/>
            </a:pPr>
            <a:r>
              <a:rPr lang="en-US" sz="4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0.70</a:t>
            </a:r>
            <a:endParaRPr lang="en-US" sz="4100" dirty="0"/>
          </a:p>
        </p:txBody>
      </p:sp>
      <p:sp>
        <p:nvSpPr>
          <p:cNvPr id="4" name="Text 2"/>
          <p:cNvSpPr/>
          <p:nvPr/>
        </p:nvSpPr>
        <p:spPr>
          <a:xfrm>
            <a:off x="2915722" y="2286119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93790" y="2657594"/>
            <a:ext cx="632781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36+ Age Group </a:t>
            </a: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⚠️</a:t>
            </a: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Below 0.80 threshold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742956" y="3175159"/>
            <a:ext cx="4429363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00"/>
              </a:lnSpc>
              <a:buNone/>
            </a:pPr>
            <a:r>
              <a:rPr lang="en-US" sz="4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100%</a:t>
            </a:r>
            <a:endParaRPr lang="en-US" sz="4100" dirty="0"/>
          </a:p>
        </p:txBody>
      </p:sp>
      <p:sp>
        <p:nvSpPr>
          <p:cNvPr id="7" name="Text 5"/>
          <p:cNvSpPr/>
          <p:nvPr/>
        </p:nvSpPr>
        <p:spPr>
          <a:xfrm>
            <a:off x="2915722" y="3861673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TPR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3790" y="4233148"/>
            <a:ext cx="632781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Despite lower predicted positive rate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3790" y="4574143"/>
            <a:ext cx="2970609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Fairness Analysis by Age Group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3790" y="4959548"/>
            <a:ext cx="6327815" cy="1905476"/>
          </a:xfrm>
          <a:prstGeom prst="roundRect">
            <a:avLst>
              <a:gd name="adj" fmla="val 350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1410" y="4967168"/>
            <a:ext cx="6312575" cy="58054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60358" y="5041463"/>
            <a:ext cx="941189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 Group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226588" y="5041463"/>
            <a:ext cx="43243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84063" y="5041463"/>
            <a:ext cx="684967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Recall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994071" y="5041463"/>
            <a:ext cx="684967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04078" y="5041463"/>
            <a:ext cx="1063704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Pred. Positive Rate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92823" y="5041463"/>
            <a:ext cx="56245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1410" y="5547717"/>
            <a:ext cx="6312575" cy="36456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60358" y="5622012"/>
            <a:ext cx="941189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18–25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226588" y="5622012"/>
            <a:ext cx="43243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984063" y="5622012"/>
            <a:ext cx="684967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80.0%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994071" y="5622012"/>
            <a:ext cx="684967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88.9%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04078" y="5622012"/>
            <a:ext cx="1063704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44.4%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392823" y="5622012"/>
            <a:ext cx="56245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1.01 </a:t>
            </a: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01410" y="5912287"/>
            <a:ext cx="6312575" cy="36456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60358" y="5986582"/>
            <a:ext cx="941189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26–35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226588" y="5986582"/>
            <a:ext cx="43243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2984063" y="5986582"/>
            <a:ext cx="684967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88.5%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994071" y="5986582"/>
            <a:ext cx="684967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78.4%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004078" y="5986582"/>
            <a:ext cx="1063704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48.6%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392823" y="5986582"/>
            <a:ext cx="56245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1.11 </a:t>
            </a: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01410" y="6276856"/>
            <a:ext cx="6312575" cy="58054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960358" y="6351151"/>
            <a:ext cx="941189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36+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2226588" y="6351151"/>
            <a:ext cx="43243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2984063" y="6351151"/>
            <a:ext cx="684967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100.0%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3994071" y="6351151"/>
            <a:ext cx="684967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88.5%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004078" y="6351151"/>
            <a:ext cx="1063704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30.8%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392823" y="6351151"/>
            <a:ext cx="562451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0.70 </a:t>
            </a: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⚠️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93790" y="6990040"/>
            <a:ext cx="6327815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36+ group</a:t>
            </a: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fails the 4/5ths disparate impact rule (0.70 &lt; 0.80 threshold), with a lower predicted positive rate despite 100% TPR.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516416" y="1506379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Mitigation Proposals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516416" y="1891784"/>
            <a:ext cx="357188" cy="357188"/>
          </a:xfrm>
          <a:prstGeom prst="roundRect">
            <a:avLst>
              <a:gd name="adj" fmla="val 18670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69994" y="1914108"/>
            <a:ext cx="250031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950" dirty="0"/>
          </a:p>
        </p:txBody>
      </p:sp>
      <p:sp>
        <p:nvSpPr>
          <p:cNvPr id="43" name="Text 41"/>
          <p:cNvSpPr/>
          <p:nvPr/>
        </p:nvSpPr>
        <p:spPr>
          <a:xfrm>
            <a:off x="7984688" y="1946315"/>
            <a:ext cx="2125504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Threshold Calibration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984688" y="2317790"/>
            <a:ext cx="5859542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Age-group-specific decision thresholds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7516416" y="2756059"/>
            <a:ext cx="357188" cy="357188"/>
          </a:xfrm>
          <a:prstGeom prst="roundRect">
            <a:avLst>
              <a:gd name="adj" fmla="val 18670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69994" y="2778383"/>
            <a:ext cx="250031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950" dirty="0"/>
          </a:p>
        </p:txBody>
      </p:sp>
      <p:sp>
        <p:nvSpPr>
          <p:cNvPr id="47" name="Text 45"/>
          <p:cNvSpPr/>
          <p:nvPr/>
        </p:nvSpPr>
        <p:spPr>
          <a:xfrm>
            <a:off x="7984688" y="2810589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Sample Reweighting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984688" y="3182064"/>
            <a:ext cx="5859542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Upweight underrepresented demographic groups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7516416" y="3620333"/>
            <a:ext cx="357188" cy="357188"/>
          </a:xfrm>
          <a:prstGeom prst="roundRect">
            <a:avLst>
              <a:gd name="adj" fmla="val 18670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69994" y="3642658"/>
            <a:ext cx="250031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950" dirty="0"/>
          </a:p>
        </p:txBody>
      </p:sp>
      <p:sp>
        <p:nvSpPr>
          <p:cNvPr id="51" name="Text 49"/>
          <p:cNvSpPr/>
          <p:nvPr/>
        </p:nvSpPr>
        <p:spPr>
          <a:xfrm>
            <a:off x="7984688" y="3674864"/>
            <a:ext cx="278249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Post-Deployment Monitoring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984688" y="4046339"/>
            <a:ext cx="5859542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fairness metrics across demographic strata continuously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7516416" y="4484608"/>
            <a:ext cx="357188" cy="357188"/>
          </a:xfrm>
          <a:prstGeom prst="roundRect">
            <a:avLst>
              <a:gd name="adj" fmla="val 18670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69994" y="4506932"/>
            <a:ext cx="250031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1950" dirty="0"/>
          </a:p>
        </p:txBody>
      </p:sp>
      <p:sp>
        <p:nvSpPr>
          <p:cNvPr id="55" name="Text 53"/>
          <p:cNvSpPr/>
          <p:nvPr/>
        </p:nvSpPr>
        <p:spPr>
          <a:xfrm>
            <a:off x="7984688" y="4539139"/>
            <a:ext cx="2083951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Human-in-the-Loop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984688" y="4910614"/>
            <a:ext cx="5859542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outputs are recommendations — not clinical diagnoses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8414"/>
            <a:ext cx="6237208" cy="632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Limitations &amp; Future Work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93790" y="1690568"/>
            <a:ext cx="25304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Known Limitations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793790" y="2191107"/>
            <a:ext cx="6286262" cy="5205651"/>
          </a:xfrm>
          <a:prstGeom prst="roundRect">
            <a:avLst>
              <a:gd name="adj" fmla="val 155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2198727"/>
            <a:ext cx="6271022" cy="49696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94172" y="2304574"/>
            <a:ext cx="2119074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506391" y="2304574"/>
            <a:ext cx="3373279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Mitigation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01410" y="2695694"/>
            <a:ext cx="6271022" cy="78224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94172" y="2801541"/>
            <a:ext cx="2119074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sample (541 patients)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06391" y="2801541"/>
            <a:ext cx="3373279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Bootstrap CIs, conservative thresholds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1410" y="3477935"/>
            <a:ext cx="6271022" cy="7822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94172" y="3583781"/>
            <a:ext cx="2119074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India data → Philippine deployment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06391" y="3583781"/>
            <a:ext cx="3373279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validation study required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1410" y="4260175"/>
            <a:ext cx="6271022" cy="78224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94172" y="4366022"/>
            <a:ext cx="2119074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Cross-sectional only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06391" y="4366022"/>
            <a:ext cx="3373279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Position as screening, not monitoring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01410" y="5042416"/>
            <a:ext cx="6271022" cy="7822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94172" y="5148263"/>
            <a:ext cx="2119074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ethnicity/SES variables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506391" y="5148263"/>
            <a:ext cx="3373279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 demographic data collection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01410" y="5824657"/>
            <a:ext cx="6271022" cy="78224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94172" y="5930503"/>
            <a:ext cx="2119074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Linear model (LR)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506391" y="5930503"/>
            <a:ext cx="3373279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Acceptable trade-off for interpretability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01410" y="6606897"/>
            <a:ext cx="6271022" cy="7822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994172" y="6712744"/>
            <a:ext cx="2119074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precision (66.7%)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506391" y="6712744"/>
            <a:ext cx="3373279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Screening context — refer to specialist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557968" y="1690568"/>
            <a:ext cx="3018830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Recommended Next Steps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7750731" y="2480310"/>
            <a:ext cx="192762" cy="867489"/>
          </a:xfrm>
          <a:prstGeom prst="roundRect">
            <a:avLst>
              <a:gd name="adj" fmla="val 4200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57968" y="2353747"/>
            <a:ext cx="578406" cy="578406"/>
          </a:xfrm>
          <a:prstGeom prst="roundRect">
            <a:avLst>
              <a:gd name="adj" fmla="val 79045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2510" y="2498288"/>
            <a:ext cx="289203" cy="289203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8300204" y="2383869"/>
            <a:ext cx="25304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Local Validation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8300204" y="2863929"/>
            <a:ext cx="554402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 200–500 Filipino patient samples for retraining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8039933" y="3800951"/>
            <a:ext cx="192762" cy="867489"/>
          </a:xfrm>
          <a:prstGeom prst="roundRect">
            <a:avLst>
              <a:gd name="adj" fmla="val 4200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847171" y="3674388"/>
            <a:ext cx="578406" cy="578406"/>
          </a:xfrm>
          <a:prstGeom prst="roundRect">
            <a:avLst>
              <a:gd name="adj" fmla="val 79045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91713" y="3818930"/>
            <a:ext cx="289203" cy="289203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8589407" y="3704511"/>
            <a:ext cx="2574250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Ensemble Exploration</a:t>
            </a:r>
            <a:endParaRPr lang="en-US" sz="1950" dirty="0"/>
          </a:p>
        </p:txBody>
      </p:sp>
      <p:sp>
        <p:nvSpPr>
          <p:cNvPr id="36" name="Text 32"/>
          <p:cNvSpPr/>
          <p:nvPr/>
        </p:nvSpPr>
        <p:spPr>
          <a:xfrm>
            <a:off x="8589407" y="4184571"/>
            <a:ext cx="5254823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stacking: Logistic Regression + Gradient Boosting</a:t>
            </a:r>
            <a:endParaRPr lang="en-US" sz="1500" dirty="0"/>
          </a:p>
        </p:txBody>
      </p:sp>
      <p:sp>
        <p:nvSpPr>
          <p:cNvPr id="37" name="Shape 33"/>
          <p:cNvSpPr/>
          <p:nvPr/>
        </p:nvSpPr>
        <p:spPr>
          <a:xfrm>
            <a:off x="8329136" y="5121593"/>
            <a:ext cx="192762" cy="867489"/>
          </a:xfrm>
          <a:prstGeom prst="roundRect">
            <a:avLst>
              <a:gd name="adj" fmla="val 4200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8136374" y="4995029"/>
            <a:ext cx="578406" cy="578406"/>
          </a:xfrm>
          <a:prstGeom prst="roundRect">
            <a:avLst>
              <a:gd name="adj" fmla="val 79045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80916" y="5139571"/>
            <a:ext cx="289203" cy="289203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8878610" y="5025152"/>
            <a:ext cx="279594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Threshold Optimization</a:t>
            </a:r>
            <a:endParaRPr lang="en-US" sz="1950" dirty="0"/>
          </a:p>
        </p:txBody>
      </p:sp>
      <p:sp>
        <p:nvSpPr>
          <p:cNvPr id="41" name="Text 36"/>
          <p:cNvSpPr/>
          <p:nvPr/>
        </p:nvSpPr>
        <p:spPr>
          <a:xfrm>
            <a:off x="8878610" y="5505212"/>
            <a:ext cx="496562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Calibrate per-age-group decision thresholds</a:t>
            </a:r>
            <a:endParaRPr lang="en-US" sz="1500" dirty="0"/>
          </a:p>
        </p:txBody>
      </p:sp>
      <p:sp>
        <p:nvSpPr>
          <p:cNvPr id="42" name="Shape 37"/>
          <p:cNvSpPr/>
          <p:nvPr/>
        </p:nvSpPr>
        <p:spPr>
          <a:xfrm>
            <a:off x="8618339" y="6442234"/>
            <a:ext cx="192762" cy="867489"/>
          </a:xfrm>
          <a:prstGeom prst="roundRect">
            <a:avLst>
              <a:gd name="adj" fmla="val 4200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8425577" y="6315670"/>
            <a:ext cx="578406" cy="578406"/>
          </a:xfrm>
          <a:prstGeom prst="roundRect">
            <a:avLst>
              <a:gd name="adj" fmla="val 79045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70119" y="6460212"/>
            <a:ext cx="289203" cy="289203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9167813" y="6345793"/>
            <a:ext cx="25304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Prospective Study</a:t>
            </a:r>
            <a:endParaRPr lang="en-US" sz="1950" dirty="0"/>
          </a:p>
        </p:txBody>
      </p:sp>
      <p:sp>
        <p:nvSpPr>
          <p:cNvPr id="46" name="Text 40"/>
          <p:cNvSpPr/>
          <p:nvPr/>
        </p:nvSpPr>
        <p:spPr>
          <a:xfrm>
            <a:off x="9167813" y="6825853"/>
            <a:ext cx="4676418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 temporal stability over 12 months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84277"/>
            <a:ext cx="7436644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Technical Stack &amp; Reproducibility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1842492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Technology Stack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793790" y="2303383"/>
            <a:ext cx="6300073" cy="3430191"/>
          </a:xfrm>
          <a:prstGeom prst="roundRect">
            <a:avLst>
              <a:gd name="adj" fmla="val 222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2311003"/>
            <a:ext cx="6284833" cy="4505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82980" y="2405658"/>
            <a:ext cx="1518642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872145" y="2405658"/>
            <a:ext cx="4032647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1410" y="2761536"/>
            <a:ext cx="6284833" cy="71175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82980" y="2856190"/>
            <a:ext cx="1518642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872145" y="2856190"/>
            <a:ext cx="4032647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scikit-learn 1.5.2, XGBoost 2.1.3, LightGBM 4.5.0, imbalanced-learn 0.12.4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1410" y="3473291"/>
            <a:ext cx="6284833" cy="4505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82980" y="3567946"/>
            <a:ext cx="1518642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Explainability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72145" y="3567946"/>
            <a:ext cx="4032647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SHAP 0.51.0, LIME 0.2.0.1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1410" y="3923824"/>
            <a:ext cx="6284833" cy="4505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82980" y="4018478"/>
            <a:ext cx="1518642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72145" y="4018478"/>
            <a:ext cx="4032647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 0.115.5, Uvicorn 0.34.0, Pydantic 2.10.3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1410" y="4374356"/>
            <a:ext cx="6284833" cy="4505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82980" y="4469011"/>
            <a:ext cx="1518642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872145" y="4469011"/>
            <a:ext cx="4032647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pandas 2.2.3, numpy 2.1.3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1410" y="4824889"/>
            <a:ext cx="6284833" cy="4505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82980" y="4919543"/>
            <a:ext cx="1518642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872145" y="4919543"/>
            <a:ext cx="4032647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Docker, docker-compose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1410" y="5275421"/>
            <a:ext cx="6284833" cy="4505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982980" y="5370076"/>
            <a:ext cx="1518642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872145" y="5370076"/>
            <a:ext cx="4032647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pytest 8.3.4, httpx 0.28.1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544157" y="1842492"/>
            <a:ext cx="2978468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Reproducibility Safeguards</a:t>
            </a:r>
            <a:endParaRPr lang="en-US" sz="1850" dirty="0"/>
          </a:p>
        </p:txBody>
      </p:sp>
      <p:sp>
        <p:nvSpPr>
          <p:cNvPr id="27" name="Shape 25"/>
          <p:cNvSpPr/>
          <p:nvPr/>
        </p:nvSpPr>
        <p:spPr>
          <a:xfrm>
            <a:off x="7544157" y="2303383"/>
            <a:ext cx="3077408" cy="1082159"/>
          </a:xfrm>
          <a:prstGeom prst="roundRect">
            <a:avLst>
              <a:gd name="adj" fmla="val 7043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33228" y="2492454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/predict</a:t>
            </a:r>
            <a:endParaRPr lang="en-US" sz="1850" dirty="0"/>
          </a:p>
        </p:txBody>
      </p:sp>
      <p:sp>
        <p:nvSpPr>
          <p:cNvPr id="29" name="Text 27"/>
          <p:cNvSpPr/>
          <p:nvPr/>
        </p:nvSpPr>
        <p:spPr>
          <a:xfrm>
            <a:off x="7733228" y="2935248"/>
            <a:ext cx="2699266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patient inference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0766703" y="2303383"/>
            <a:ext cx="3077528" cy="1082159"/>
          </a:xfrm>
          <a:prstGeom prst="roundRect">
            <a:avLst>
              <a:gd name="adj" fmla="val 7043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55774" y="2492454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/batch</a:t>
            </a:r>
            <a:endParaRPr lang="en-US" sz="1850" dirty="0"/>
          </a:p>
        </p:txBody>
      </p:sp>
      <p:sp>
        <p:nvSpPr>
          <p:cNvPr id="32" name="Text 30"/>
          <p:cNvSpPr/>
          <p:nvPr/>
        </p:nvSpPr>
        <p:spPr>
          <a:xfrm>
            <a:off x="10955774" y="2935248"/>
            <a:ext cx="2699385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Bulk patient scoring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544157" y="3530679"/>
            <a:ext cx="6300073" cy="1082159"/>
          </a:xfrm>
          <a:prstGeom prst="roundRect">
            <a:avLst>
              <a:gd name="adj" fmla="val 7043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33228" y="3719751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/health</a:t>
            </a:r>
            <a:endParaRPr lang="en-US" sz="1850" dirty="0"/>
          </a:p>
        </p:txBody>
      </p:sp>
      <p:sp>
        <p:nvSpPr>
          <p:cNvPr id="35" name="Text 33"/>
          <p:cNvSpPr/>
          <p:nvPr/>
        </p:nvSpPr>
        <p:spPr>
          <a:xfrm>
            <a:off x="7733228" y="4162544"/>
            <a:ext cx="592193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Uptime &amp; readiness check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93790" y="6060043"/>
            <a:ext cx="3151823" cy="1285280"/>
          </a:xfrm>
          <a:prstGeom prst="roundRect">
            <a:avLst>
              <a:gd name="adj" fmla="val 5930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2861" y="6249114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Seed 42</a:t>
            </a:r>
            <a:endParaRPr lang="en-US" sz="1850" dirty="0"/>
          </a:p>
        </p:txBody>
      </p:sp>
      <p:sp>
        <p:nvSpPr>
          <p:cNvPr id="38" name="Text 36"/>
          <p:cNvSpPr/>
          <p:nvPr/>
        </p:nvSpPr>
        <p:spPr>
          <a:xfrm>
            <a:off x="982861" y="6633805"/>
            <a:ext cx="2773680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random seed across all operations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090749" y="6060043"/>
            <a:ext cx="3151823" cy="1285280"/>
          </a:xfrm>
          <a:prstGeom prst="roundRect">
            <a:avLst>
              <a:gd name="adj" fmla="val 5930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79821" y="6249114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Modular Pipeline</a:t>
            </a:r>
            <a:endParaRPr lang="en-US" sz="1850" dirty="0"/>
          </a:p>
        </p:txBody>
      </p:sp>
      <p:sp>
        <p:nvSpPr>
          <p:cNvPr id="41" name="Text 39"/>
          <p:cNvSpPr/>
          <p:nvPr/>
        </p:nvSpPr>
        <p:spPr>
          <a:xfrm>
            <a:off x="4279821" y="6633805"/>
            <a:ext cx="2773680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src/ modules with centralized config.py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387709" y="6060043"/>
            <a:ext cx="3151823" cy="1285280"/>
          </a:xfrm>
          <a:prstGeom prst="roundRect">
            <a:avLst>
              <a:gd name="adj" fmla="val 5930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76780" y="6249114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Pinned Deps</a:t>
            </a:r>
            <a:endParaRPr lang="en-US" sz="1850" dirty="0"/>
          </a:p>
        </p:txBody>
      </p:sp>
      <p:sp>
        <p:nvSpPr>
          <p:cNvPr id="44" name="Text 42"/>
          <p:cNvSpPr/>
          <p:nvPr/>
        </p:nvSpPr>
        <p:spPr>
          <a:xfrm>
            <a:off x="7576780" y="6633805"/>
            <a:ext cx="2773680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requirements.txt locks all library versions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10684669" y="6060043"/>
            <a:ext cx="3151942" cy="1285280"/>
          </a:xfrm>
          <a:prstGeom prst="roundRect">
            <a:avLst>
              <a:gd name="adj" fmla="val 5930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873740" y="6249114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Docker</a:t>
            </a:r>
            <a:endParaRPr lang="en-US" sz="1850" dirty="0"/>
          </a:p>
        </p:txBody>
      </p:sp>
      <p:sp>
        <p:nvSpPr>
          <p:cNvPr id="47" name="Text 45"/>
          <p:cNvSpPr/>
          <p:nvPr/>
        </p:nvSpPr>
        <p:spPr>
          <a:xfrm>
            <a:off x="10873740" y="6633805"/>
            <a:ext cx="2773799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Containerized environment for full parity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9108" y="857131"/>
            <a:ext cx="4569500" cy="43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Conclusion &amp; Key Takeaways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7549872" y="1473279"/>
            <a:ext cx="5017056" cy="436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3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88.9%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9189720" y="2033945"/>
            <a:ext cx="1737241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Recall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199108" y="2297311"/>
            <a:ext cx="7718584" cy="167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Fewest missed PCOS cases on held-out test set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549872" y="2685455"/>
            <a:ext cx="5017056" cy="436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3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93.0%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9189720" y="3246120"/>
            <a:ext cx="1737241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AUC-ROC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199108" y="3509486"/>
            <a:ext cx="7718584" cy="167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discrimination between PCOS and non-PCOS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549872" y="3897630"/>
            <a:ext cx="5017056" cy="436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3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7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9189720" y="4458295"/>
            <a:ext cx="1737241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Models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199108" y="4721662"/>
            <a:ext cx="7718584" cy="167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Trained &amp; compared with rigorous cross-validation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549872" y="5109805"/>
            <a:ext cx="5017056" cy="436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3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5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9189720" y="5670471"/>
            <a:ext cx="1737241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XAI Methods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199108" y="5933837"/>
            <a:ext cx="7718584" cy="167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SHAP, LIME, PDP/ICE, coefficients, RFE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83868" y="6173033"/>
            <a:ext cx="30480" cy="629126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7" name="Text 14"/>
          <p:cNvSpPr/>
          <p:nvPr/>
        </p:nvSpPr>
        <p:spPr>
          <a:xfrm>
            <a:off x="6361867" y="6188273"/>
            <a:ext cx="2738795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Ovarian morphology is paramount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361867" y="6451640"/>
            <a:ext cx="3648313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Follicle counts are the strongest predictors — fully consistent with Rotterdam diagnostic criteria.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0091380" y="6173033"/>
            <a:ext cx="30480" cy="629126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20" name="Text 17"/>
          <p:cNvSpPr/>
          <p:nvPr/>
        </p:nvSpPr>
        <p:spPr>
          <a:xfrm>
            <a:off x="10269379" y="6188273"/>
            <a:ext cx="3480554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Simpler models win for clinical deployment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10269379" y="6451640"/>
            <a:ext cx="3648313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 Regression offers the best balance of recall and interpretability — no black-box trade-off.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183868" y="6926104"/>
            <a:ext cx="30480" cy="461486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23" name="Text 20"/>
          <p:cNvSpPr/>
          <p:nvPr/>
        </p:nvSpPr>
        <p:spPr>
          <a:xfrm>
            <a:off x="6361867" y="6941344"/>
            <a:ext cx="1951077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Ethics must be proactive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6361867" y="7204710"/>
            <a:ext cx="7555825" cy="167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Bias auditing revealed age-group disparities that require threshold calibration before deployment.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23449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Q&amp;A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2121337"/>
            <a:ext cx="6407944" cy="2474357"/>
          </a:xfrm>
          <a:prstGeom prst="roundRect">
            <a:avLst>
              <a:gd name="adj" fmla="val 5913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2D4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2121337"/>
            <a:ext cx="121920" cy="2474357"/>
          </a:xfrm>
          <a:prstGeom prst="roundRect">
            <a:avLst>
              <a:gd name="adj" fmla="val 78139"/>
            </a:avLst>
          </a:prstGeom>
          <a:solidFill>
            <a:srgbClr val="007EBD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2378631"/>
            <a:ext cx="321254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Why not deep learning?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142524" y="2886789"/>
            <a:ext cx="58019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541 samples is insufficient for deep neural networks. Logistic Regression achieves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88.9% recall with full interpretability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no black-box trade-off needed or justified.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121337"/>
            <a:ext cx="6408063" cy="2474357"/>
          </a:xfrm>
          <a:prstGeom prst="roundRect">
            <a:avLst>
              <a:gd name="adj" fmla="val 5913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2D4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8067" y="2121337"/>
            <a:ext cx="121920" cy="2474357"/>
          </a:xfrm>
          <a:prstGeom prst="roundRect">
            <a:avLst>
              <a:gd name="adj" fmla="val 78139"/>
            </a:avLst>
          </a:prstGeom>
          <a:solidFill>
            <a:srgbClr val="007EBD"/>
          </a:solidFill>
          <a:ln/>
        </p:spPr>
      </p:sp>
      <p:sp>
        <p:nvSpPr>
          <p:cNvPr id="9" name="Text 7"/>
          <p:cNvSpPr/>
          <p:nvPr/>
        </p:nvSpPr>
        <p:spPr>
          <a:xfrm>
            <a:off x="7777282" y="2378631"/>
            <a:ext cx="486858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Why prioritize recall over accuracy?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777282" y="2886789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screening, a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false negative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(missed PCOS case) carries far greater clinical consequence than a false positive, which simply triggers a specialist referral.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822508"/>
            <a:ext cx="6407944" cy="2483525"/>
          </a:xfrm>
          <a:prstGeom prst="roundRect">
            <a:avLst>
              <a:gd name="adj" fmla="val 5891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2D4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310" y="4822508"/>
            <a:ext cx="121920" cy="2483525"/>
          </a:xfrm>
          <a:prstGeom prst="roundRect">
            <a:avLst>
              <a:gd name="adj" fmla="val 78139"/>
            </a:avLst>
          </a:prstGeom>
          <a:solidFill>
            <a:srgbClr val="007EBD"/>
          </a:solidFill>
          <a:ln/>
        </p:spPr>
      </p:sp>
      <p:sp>
        <p:nvSpPr>
          <p:cNvPr id="13" name="Text 11"/>
          <p:cNvSpPr/>
          <p:nvPr/>
        </p:nvSpPr>
        <p:spPr>
          <a:xfrm>
            <a:off x="1142524" y="5079802"/>
            <a:ext cx="5801916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How would this generalize to Filipino patients?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142524" y="5960031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validation study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the critical next step. The pipeline is ready — only retraining on 200–500 local samples is required.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822508"/>
            <a:ext cx="6408063" cy="2483525"/>
          </a:xfrm>
          <a:prstGeom prst="roundRect">
            <a:avLst>
              <a:gd name="adj" fmla="val 5891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2D4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8067" y="4822508"/>
            <a:ext cx="121920" cy="2483525"/>
          </a:xfrm>
          <a:prstGeom prst="roundRect">
            <a:avLst>
              <a:gd name="adj" fmla="val 78139"/>
            </a:avLst>
          </a:prstGeom>
          <a:solidFill>
            <a:srgbClr val="007EBD"/>
          </a:solidFill>
          <a:ln/>
        </p:spPr>
      </p:sp>
      <p:sp>
        <p:nvSpPr>
          <p:cNvPr id="17" name="Text 15"/>
          <p:cNvSpPr/>
          <p:nvPr/>
        </p:nvSpPr>
        <p:spPr>
          <a:xfrm>
            <a:off x="7777282" y="5079802"/>
            <a:ext cx="5077182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Can this replace specialist diagnosis?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7777282" y="5587960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No.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This is a screening tool to help community health workers prioritize referrals. Final diagnosis always requires specialist clinical evaluation.</a:t>
            </a:r>
            <a:endParaRPr lang="en-US" sz="1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27522"/>
            <a:ext cx="7556421" cy="1027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50"/>
              </a:lnSpc>
              <a:buNone/>
            </a:pPr>
            <a:r>
              <a:rPr lang="en-US" sz="6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Thank You</a:t>
            </a:r>
            <a:endParaRPr lang="en-US" sz="6450" dirty="0"/>
          </a:p>
        </p:txBody>
      </p:sp>
      <p:sp>
        <p:nvSpPr>
          <p:cNvPr id="4" name="Text 1"/>
          <p:cNvSpPr/>
          <p:nvPr/>
        </p:nvSpPr>
        <p:spPr>
          <a:xfrm>
            <a:off x="6280190" y="249471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Questions, collaboration, or feedback are welcome.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112770"/>
            <a:ext cx="7556421" cy="3989308"/>
          </a:xfrm>
          <a:prstGeom prst="roundRect">
            <a:avLst>
              <a:gd name="adj" fmla="val 2388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87810" y="3120390"/>
            <a:ext cx="7541181" cy="1324689"/>
          </a:xfrm>
          <a:prstGeom prst="roundRect">
            <a:avLst>
              <a:gd name="adj" fmla="val 7192"/>
            </a:avLst>
          </a:prstGeom>
          <a:solidFill>
            <a:srgbClr val="CCEEFF"/>
          </a:solidFill>
          <a:ln/>
        </p:spPr>
      </p:sp>
      <p:sp>
        <p:nvSpPr>
          <p:cNvPr id="7" name="Text 4"/>
          <p:cNvSpPr/>
          <p:nvPr/>
        </p:nvSpPr>
        <p:spPr>
          <a:xfrm>
            <a:off x="6514624" y="334720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Repo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6514624" y="385536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hlinkClick r:id="rId4"/>
              </a:rPr>
              <a:t>https://github.com/jjdnavares/pcos-prediction-ml/blob/main/README.md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 </a:t>
            </a:r>
          </a:p>
        </p:txBody>
      </p:sp>
      <p:sp>
        <p:nvSpPr>
          <p:cNvPr id="9" name="Shape 6"/>
          <p:cNvSpPr/>
          <p:nvPr/>
        </p:nvSpPr>
        <p:spPr>
          <a:xfrm>
            <a:off x="6287810" y="4445079"/>
            <a:ext cx="7541181" cy="1324689"/>
          </a:xfrm>
          <a:prstGeom prst="rect">
            <a:avLst/>
          </a:prstGeom>
          <a:solidFill>
            <a:srgbClr val="CCEEFF"/>
          </a:solidFill>
          <a:ln/>
        </p:spPr>
      </p:sp>
      <p:sp>
        <p:nvSpPr>
          <p:cNvPr id="10" name="Shape 7"/>
          <p:cNvSpPr/>
          <p:nvPr/>
        </p:nvSpPr>
        <p:spPr>
          <a:xfrm>
            <a:off x="6287810" y="4445079"/>
            <a:ext cx="7541181" cy="30480"/>
          </a:xfrm>
          <a:prstGeom prst="roundRect">
            <a:avLst>
              <a:gd name="adj" fmla="val 312558"/>
            </a:avLst>
          </a:prstGeom>
          <a:solidFill>
            <a:srgbClr val="B2D4E5"/>
          </a:solidFill>
          <a:ln/>
        </p:spPr>
      </p:sp>
      <p:sp>
        <p:nvSpPr>
          <p:cNvPr id="11" name="Text 8"/>
          <p:cNvSpPr/>
          <p:nvPr/>
        </p:nvSpPr>
        <p:spPr>
          <a:xfrm>
            <a:off x="6514624" y="467189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LinkedIn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6514624" y="5180052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linkedin.com/in/jjdnavares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6287810" y="5769769"/>
            <a:ext cx="7541181" cy="1324689"/>
          </a:xfrm>
          <a:prstGeom prst="rect">
            <a:avLst/>
          </a:prstGeom>
          <a:solidFill>
            <a:srgbClr val="CCEEF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6287810" y="5769769"/>
            <a:ext cx="7541181" cy="30480"/>
          </a:xfrm>
          <a:prstGeom prst="roundRect">
            <a:avLst>
              <a:gd name="adj" fmla="val 312558"/>
            </a:avLst>
          </a:prstGeom>
          <a:solidFill>
            <a:srgbClr val="B2D4E5"/>
          </a:solidFill>
          <a:ln/>
        </p:spPr>
      </p:sp>
      <p:sp>
        <p:nvSpPr>
          <p:cNvPr id="15" name="Text 12"/>
          <p:cNvSpPr/>
          <p:nvPr/>
        </p:nvSpPr>
        <p:spPr>
          <a:xfrm>
            <a:off x="6514624" y="599658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Email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6514624" y="6504742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jumeil.navares@gmail.com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1419</Words>
  <Application>Microsoft Office PowerPoint</Application>
  <PresentationFormat>Custom</PresentationFormat>
  <Paragraphs>328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Petrona Bold</vt:lpstr>
      <vt:lpstr>Inter</vt:lpstr>
      <vt:lpstr>Petrona Light</vt:lpstr>
      <vt:lpstr>-apple-system, BlinkMacSystemFont, Segoe UI, Roboto, Helvetica Neue, Arial, sans-serif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Jumeil John Navares</cp:lastModifiedBy>
  <cp:revision>3</cp:revision>
  <dcterms:created xsi:type="dcterms:W3CDTF">2026-04-05T18:30:19Z</dcterms:created>
  <dcterms:modified xsi:type="dcterms:W3CDTF">2026-04-05T21:14:58Z</dcterms:modified>
</cp:coreProperties>
</file>