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69" r:id="rId3"/>
    <p:sldId id="258" r:id="rId4"/>
    <p:sldId id="259" r:id="rId5"/>
    <p:sldId id="260" r:id="rId6"/>
    <p:sldId id="261" r:id="rId7"/>
    <p:sldId id="270" r:id="rId8"/>
    <p:sldId id="263" r:id="rId9"/>
    <p:sldId id="264" r:id="rId10"/>
    <p:sldId id="265" r:id="rId11"/>
    <p:sldId id="271" r:id="rId12"/>
    <p:sldId id="267" r:id="rId13"/>
  </p:sldIdLst>
  <p:sldSz cx="14630400" cy="8229600"/>
  <p:notesSz cx="8229600" cy="14630400"/>
  <p:embeddedFontLst>
    <p:embeddedFont>
      <p:font typeface="Source Sans 3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8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733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859988"/>
            <a:ext cx="5953720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PCOS Screening Solution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837724" y="1717715"/>
            <a:ext cx="7468553" cy="330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2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AI-Powered Early Detection for Underserved Communities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37724" y="5280303"/>
            <a:ext cx="7468553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Bridging healthcare access in the Philippines — from barangay to diagnosis in under 5 minutes.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7724" y="6077069"/>
            <a:ext cx="7468553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Prepared for:</a:t>
            </a: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Department of Health, LGUs, Healthcare Foundations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7724" y="6572726"/>
            <a:ext cx="7468553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Presenter:</a:t>
            </a: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Jumeil John D. Navares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7724" y="7068383"/>
            <a:ext cx="7468553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Date:</a:t>
            </a: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March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60916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The Problem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837724" y="1029295"/>
            <a:ext cx="12954952" cy="119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1 in 10 Filipino Women Has PCOS — Most Don't Know It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1315403" y="2587109"/>
            <a:ext cx="5413891" cy="67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1.2M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2825472" y="3489841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Women Affected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3892748"/>
            <a:ext cx="6369368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 reproductive age in the Philippines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00868" y="2587109"/>
            <a:ext cx="5414010" cy="67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80%</a:t>
            </a:r>
            <a:endParaRPr lang="en-US" sz="5250" dirty="0"/>
          </a:p>
        </p:txBody>
      </p:sp>
      <p:sp>
        <p:nvSpPr>
          <p:cNvPr id="8" name="Text 6"/>
          <p:cNvSpPr/>
          <p:nvPr/>
        </p:nvSpPr>
        <p:spPr>
          <a:xfrm>
            <a:off x="9411057" y="3489841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Undiagnosed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423190" y="3892748"/>
            <a:ext cx="6369487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Due to specialist scarcity in rural areas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15403" y="4641413"/>
            <a:ext cx="5413891" cy="67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18mo</a:t>
            </a:r>
            <a:endParaRPr lang="en-US" sz="5250" dirty="0"/>
          </a:p>
        </p:txBody>
      </p:sp>
      <p:sp>
        <p:nvSpPr>
          <p:cNvPr id="11" name="Text 9"/>
          <p:cNvSpPr/>
          <p:nvPr/>
        </p:nvSpPr>
        <p:spPr>
          <a:xfrm>
            <a:off x="2665809" y="5544145"/>
            <a:ext cx="271319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Avg. Time to Diagnosis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37724" y="5947053"/>
            <a:ext cx="6369368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rural and remote communities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00868" y="4641413"/>
            <a:ext cx="5414010" cy="67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P456B</a:t>
            </a:r>
            <a:endParaRPr lang="en-US" sz="5250" dirty="0"/>
          </a:p>
        </p:txBody>
      </p:sp>
      <p:sp>
        <p:nvSpPr>
          <p:cNvPr id="14" name="Text 12"/>
          <p:cNvSpPr/>
          <p:nvPr/>
        </p:nvSpPr>
        <p:spPr>
          <a:xfrm>
            <a:off x="9154954" y="5544145"/>
            <a:ext cx="290583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Annual National Burden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423190" y="5947053"/>
            <a:ext cx="6369487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preventable complications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7724" y="6442710"/>
            <a:ext cx="4203025" cy="1125974"/>
          </a:xfrm>
          <a:prstGeom prst="roundRect">
            <a:avLst>
              <a:gd name="adj" fmla="val 7590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8703" y="6653689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Type 2 Diabetes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048703" y="7056596"/>
            <a:ext cx="3781068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50–70% of PCOS patients develop 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13628" y="6442710"/>
            <a:ext cx="4203025" cy="1125974"/>
          </a:xfrm>
          <a:prstGeom prst="roundRect">
            <a:avLst>
              <a:gd name="adj" fmla="val 7590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4607" y="6653689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Infertility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5424607" y="7056596"/>
            <a:ext cx="3781068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Leading cause in Philippine fertility clinics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89532" y="6442710"/>
            <a:ext cx="4203144" cy="1125974"/>
          </a:xfrm>
          <a:prstGeom prst="roundRect">
            <a:avLst>
              <a:gd name="adj" fmla="val 7590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00511" y="6653689"/>
            <a:ext cx="277534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Cardiovascular Disease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9800511" y="7056596"/>
            <a:ext cx="3781187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4× higher risk for undiagnosed women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0588"/>
            <a:ext cx="7699177" cy="66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The Healthcare Access Crisis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37724" y="2099310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The Scale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7724" y="2649617"/>
            <a:ext cx="6200061" cy="227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PCOS affects </a:t>
            </a:r>
            <a:r>
              <a:rPr lang="en-US" sz="17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in 10 Filipino women</a:t>
            </a: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reproductive age (~1.2M women)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80% are undiagnosed or diagnosed late</a:t>
            </a: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due to specialist scarcity in rural areas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Delayed diagnosis leads to Type 2 Diabetes (50–70%), infertility, and cardiovascular disease (4x higher risk)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600236" y="2099310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The Access Gap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00236" y="2676644"/>
            <a:ext cx="6200061" cy="2885956"/>
          </a:xfrm>
          <a:prstGeom prst="roundRect">
            <a:avLst>
              <a:gd name="adj" fmla="val 331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07856" y="2684264"/>
            <a:ext cx="6184821" cy="6290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835503" y="2821424"/>
            <a:ext cx="201525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Resource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313194" y="2821424"/>
            <a:ext cx="139291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Urban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2168545" y="2821424"/>
            <a:ext cx="139672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Rural/Remote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607856" y="3313271"/>
            <a:ext cx="6184821" cy="9836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835503" y="3450431"/>
            <a:ext cx="2015252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OB-GYN within 1 hour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313194" y="3450431"/>
            <a:ext cx="139291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85%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168545" y="3450431"/>
            <a:ext cx="139672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18%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607856" y="4296966"/>
            <a:ext cx="6184821" cy="6290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835503" y="4434126"/>
            <a:ext cx="201525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Ultrasound facility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313194" y="4434126"/>
            <a:ext cx="139291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78%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2168545" y="4434126"/>
            <a:ext cx="139672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12%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607856" y="4925973"/>
            <a:ext cx="6184821" cy="6290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835503" y="5063133"/>
            <a:ext cx="201525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Wait for specialist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0313194" y="5063133"/>
            <a:ext cx="139291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weeks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2168545" y="5063133"/>
            <a:ext cx="139672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6+ months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600236" y="5805607"/>
            <a:ext cx="6200061" cy="1290280"/>
          </a:xfrm>
          <a:prstGeom prst="roundRect">
            <a:avLst>
              <a:gd name="adj" fmla="val 7402"/>
            </a:avLst>
          </a:prstGeom>
          <a:solidFill>
            <a:srgbClr val="F6BBE1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645" y="6134576"/>
            <a:ext cx="284202" cy="227409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339257" y="6078379"/>
            <a:ext cx="5233630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Annual national burden from complications: </a:t>
            </a:r>
            <a:r>
              <a:rPr lang="en-US" sz="17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~P456 Billion</a:t>
            </a: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Up to 80% preventable with early intervention.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24" y="542449"/>
            <a:ext cx="3712964" cy="46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How It Works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0324" y="1214557"/>
            <a:ext cx="13249751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trained ML model analyzes basic clinical data — vitals, symptoms, lab results — and delivers a risk assessment in seconds. No specialist or expensive equipment required for the initial screen.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733" y="1540788"/>
            <a:ext cx="8242935" cy="37724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7549" y="2482679"/>
            <a:ext cx="529979" cy="5299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05371" y="4286098"/>
            <a:ext cx="154753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Specialist Confirmation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7329" y="2483673"/>
            <a:ext cx="529979" cy="52997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55047" y="4145820"/>
            <a:ext cx="1547539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Stratified Recommendation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7605" y="2483673"/>
            <a:ext cx="529979" cy="52997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615323" y="4286098"/>
            <a:ext cx="154753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ML Risk Analysis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47281" y="2483673"/>
            <a:ext cx="529979" cy="52997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633201" y="4286098"/>
            <a:ext cx="154753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CHW Data Collection</a:t>
            </a:r>
            <a:endParaRPr lang="en-US" sz="17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0324" y="5430203"/>
            <a:ext cx="394454" cy="39445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90324" y="5954673"/>
            <a:ext cx="209919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No Specialist Required</a:t>
            </a:r>
            <a:endParaRPr lang="en-US" sz="1450" dirty="0"/>
          </a:p>
        </p:txBody>
      </p:sp>
      <p:sp>
        <p:nvSpPr>
          <p:cNvPr id="15" name="Text 7"/>
          <p:cNvSpPr/>
          <p:nvPr/>
        </p:nvSpPr>
        <p:spPr>
          <a:xfrm>
            <a:off x="690324" y="6248995"/>
            <a:ext cx="6559868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Community health workers operate it independently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0208" y="5430203"/>
            <a:ext cx="394454" cy="39445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380208" y="5954673"/>
            <a:ext cx="1856423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Under 5 Minutes</a:t>
            </a:r>
            <a:endParaRPr lang="en-US" sz="1450" dirty="0"/>
          </a:p>
        </p:txBody>
      </p:sp>
      <p:sp>
        <p:nvSpPr>
          <p:cNvPr id="18" name="Text 9"/>
          <p:cNvSpPr/>
          <p:nvPr/>
        </p:nvSpPr>
        <p:spPr>
          <a:xfrm>
            <a:off x="7380208" y="6248995"/>
            <a:ext cx="6559868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vs. months-long diagnostic journey in rural areas</a:t>
            </a:r>
            <a:endParaRPr lang="en-US" sz="12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0324" y="6666309"/>
            <a:ext cx="394454" cy="39445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90324" y="7190780"/>
            <a:ext cx="1856423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Works Offline</a:t>
            </a:r>
            <a:endParaRPr lang="en-US" sz="1450" dirty="0"/>
          </a:p>
        </p:txBody>
      </p:sp>
      <p:sp>
        <p:nvSpPr>
          <p:cNvPr id="21" name="Text 11"/>
          <p:cNvSpPr/>
          <p:nvPr/>
        </p:nvSpPr>
        <p:spPr>
          <a:xfrm>
            <a:off x="690324" y="7485102"/>
            <a:ext cx="6559868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Suitable for areas with limited connectivity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80208" y="6666309"/>
            <a:ext cx="394454" cy="394454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380208" y="7190780"/>
            <a:ext cx="1856423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Transparent AI</a:t>
            </a:r>
            <a:endParaRPr lang="en-US" sz="1450" dirty="0"/>
          </a:p>
        </p:txBody>
      </p:sp>
      <p:sp>
        <p:nvSpPr>
          <p:cNvPr id="24" name="Text 13"/>
          <p:cNvSpPr/>
          <p:nvPr/>
        </p:nvSpPr>
        <p:spPr>
          <a:xfrm>
            <a:off x="7380208" y="7485102"/>
            <a:ext cx="6559868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recommendation includes an explanation of why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56191"/>
            <a:ext cx="4787503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Model Performance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37724" y="1900476"/>
            <a:ext cx="12954952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Trained on </a:t>
            </a:r>
            <a:r>
              <a:rPr lang="en-US" sz="16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541 real patient records</a:t>
            </a: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validated on a held-out test set of </a:t>
            </a:r>
            <a:r>
              <a:rPr lang="en-US" sz="16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109 patients</a:t>
            </a: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50739" y="2497812"/>
            <a:ext cx="3548062" cy="67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88.9%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1727954" y="3400544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Recall (Sensitivity)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3803452"/>
            <a:ext cx="4174212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Catches 9 out of 10 PCOS cases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41050" y="2497812"/>
            <a:ext cx="3548062" cy="67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93.0%</a:t>
            </a:r>
            <a:endParaRPr lang="en-US" sz="5250" dirty="0"/>
          </a:p>
        </p:txBody>
      </p:sp>
      <p:sp>
        <p:nvSpPr>
          <p:cNvPr id="8" name="Text 6"/>
          <p:cNvSpPr/>
          <p:nvPr/>
        </p:nvSpPr>
        <p:spPr>
          <a:xfrm>
            <a:off x="6118265" y="3400544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AUC-ROC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228034" y="3803452"/>
            <a:ext cx="4174212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Excellent at distinguishing PCOS from non-PCOS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31360" y="2497812"/>
            <a:ext cx="3548062" cy="67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81.7%</a:t>
            </a:r>
            <a:endParaRPr lang="en-US" sz="5250" dirty="0"/>
          </a:p>
        </p:txBody>
      </p:sp>
      <p:sp>
        <p:nvSpPr>
          <p:cNvPr id="11" name="Text 9"/>
          <p:cNvSpPr/>
          <p:nvPr/>
        </p:nvSpPr>
        <p:spPr>
          <a:xfrm>
            <a:off x="10508575" y="3400544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Accuracy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618345" y="3803452"/>
            <a:ext cx="4174212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Correct in 8 out of 10 screenings overall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7724" y="4363879"/>
            <a:ext cx="2652355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Top Predictive Factors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837724" y="4922401"/>
            <a:ext cx="457795" cy="457795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2972" y="4971752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68398" y="4992291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Follicle counts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468398" y="5395198"/>
            <a:ext cx="3543538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Ovarian morphology — strongest predictor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28034" y="4922401"/>
            <a:ext cx="457795" cy="457795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3283" y="4971752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5858708" y="4992291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Symptom patterns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5858708" y="5395198"/>
            <a:ext cx="3543538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Skin darkening, hair growth, weight gain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18345" y="4922401"/>
            <a:ext cx="457795" cy="457795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03594" y="4971752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249019" y="4992291"/>
            <a:ext cx="3543538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Cycle regularity &amp; AMH levels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10249019" y="5694402"/>
            <a:ext cx="3543538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Hormonal markers for ovarian dysfunction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7724" y="6491168"/>
            <a:ext cx="12954952" cy="782122"/>
          </a:xfrm>
          <a:prstGeom prst="roundRect">
            <a:avLst>
              <a:gd name="adj" fmla="val 10927"/>
            </a:avLst>
          </a:prstGeom>
          <a:solidFill>
            <a:srgbClr val="F6BBE1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83" y="6773108"/>
            <a:ext cx="254318" cy="20335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98759" y="6714887"/>
            <a:ext cx="12090559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Tested across age groups and BMI categories — </a:t>
            </a:r>
            <a:r>
              <a:rPr lang="en-US" sz="16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significant bias detected</a:t>
            </a: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primary brackets.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8553" y="680085"/>
            <a:ext cx="9869329" cy="679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Results Translated to Business Value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08553" y="1916906"/>
            <a:ext cx="5184577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Pilot Projection: 100 Barangays, Year 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08553" y="2507337"/>
            <a:ext cx="6224826" cy="3243620"/>
          </a:xfrm>
          <a:prstGeom prst="roundRect">
            <a:avLst>
              <a:gd name="adj" fmla="val 299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173" y="2514957"/>
            <a:ext cx="6209586" cy="6456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7274" y="2656284"/>
            <a:ext cx="3259931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76788" y="2656284"/>
            <a:ext cx="2017990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6173" y="3160633"/>
            <a:ext cx="6209586" cy="6456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47274" y="3301960"/>
            <a:ext cx="3259931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Women screened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76788" y="3301960"/>
            <a:ext cx="2017990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18,000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6173" y="3806309"/>
            <a:ext cx="6209586" cy="6456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274" y="3947636"/>
            <a:ext cx="3259931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True PCOS cases caught early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76788" y="3947636"/>
            <a:ext cx="2017990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~1,600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6173" y="4451985"/>
            <a:ext cx="6209586" cy="6456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47274" y="4593312"/>
            <a:ext cx="3259931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Cases previously missed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76788" y="4593312"/>
            <a:ext cx="2017990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~1,280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6173" y="5097661"/>
            <a:ext cx="6209586" cy="6456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47274" y="5238988"/>
            <a:ext cx="3259931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Potential healthcare savings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76788" y="5238988"/>
            <a:ext cx="2017990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~P192M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04641" y="1916906"/>
            <a:ext cx="2916793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Screening Economics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604641" y="2507337"/>
            <a:ext cx="6224826" cy="1448514"/>
          </a:xfrm>
          <a:prstGeom prst="roundRect">
            <a:avLst>
              <a:gd name="adj" fmla="val 1010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FB8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74161" y="2507337"/>
            <a:ext cx="121920" cy="1448514"/>
          </a:xfrm>
          <a:prstGeom prst="roundRect">
            <a:avLst>
              <a:gd name="adj" fmla="val 79590"/>
            </a:avLst>
          </a:prstGeom>
          <a:solidFill>
            <a:srgbClr val="E851B2"/>
          </a:solidFill>
          <a:ln/>
        </p:spPr>
      </p:sp>
      <p:sp>
        <p:nvSpPr>
          <p:cNvPr id="23" name="Text 21"/>
          <p:cNvSpPr/>
          <p:nvPr/>
        </p:nvSpPr>
        <p:spPr>
          <a:xfrm>
            <a:off x="7957542" y="2768798"/>
            <a:ext cx="3902512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Cost to screen 18,000 women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957542" y="3331369"/>
            <a:ext cx="5610463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P2.7M</a:t>
            </a:r>
            <a:r>
              <a:rPr lang="en-US" sz="1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(18,000 × P150/screening)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04641" y="4178737"/>
            <a:ext cx="6224826" cy="1448514"/>
          </a:xfrm>
          <a:prstGeom prst="roundRect">
            <a:avLst>
              <a:gd name="adj" fmla="val 1010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FB8D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74161" y="4178737"/>
            <a:ext cx="121920" cy="1448514"/>
          </a:xfrm>
          <a:prstGeom prst="roundRect">
            <a:avLst>
              <a:gd name="adj" fmla="val 79590"/>
            </a:avLst>
          </a:prstGeom>
          <a:solidFill>
            <a:srgbClr val="E851B2"/>
          </a:solidFill>
          <a:ln/>
        </p:spPr>
      </p:sp>
      <p:sp>
        <p:nvSpPr>
          <p:cNvPr id="27" name="Text 25"/>
          <p:cNvSpPr/>
          <p:nvPr/>
        </p:nvSpPr>
        <p:spPr>
          <a:xfrm>
            <a:off x="7957542" y="4440198"/>
            <a:ext cx="3999190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Savings from early detections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957542" y="5002768"/>
            <a:ext cx="5610463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~P192M</a:t>
            </a:r>
            <a:r>
              <a:rPr lang="en-US" sz="1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(1,280 × P150K avoided complications)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04641" y="5850136"/>
            <a:ext cx="6224826" cy="1448514"/>
          </a:xfrm>
          <a:prstGeom prst="roundRect">
            <a:avLst>
              <a:gd name="adj" fmla="val 1010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FB8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74161" y="5850136"/>
            <a:ext cx="121920" cy="1448514"/>
          </a:xfrm>
          <a:prstGeom prst="roundRect">
            <a:avLst>
              <a:gd name="adj" fmla="val 79590"/>
            </a:avLst>
          </a:prstGeom>
          <a:solidFill>
            <a:srgbClr val="E851B2"/>
          </a:solidFill>
          <a:ln/>
        </p:spPr>
      </p:sp>
      <p:sp>
        <p:nvSpPr>
          <p:cNvPr id="31" name="Text 29"/>
          <p:cNvSpPr/>
          <p:nvPr/>
        </p:nvSpPr>
        <p:spPr>
          <a:xfrm>
            <a:off x="7957542" y="6111597"/>
            <a:ext cx="338220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Return per peso invested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957542" y="6674168"/>
            <a:ext cx="5610463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~P71</a:t>
            </a:r>
            <a:r>
              <a:rPr lang="en-US" sz="1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avoided complications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33080"/>
            <a:ext cx="5069205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Recommendations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299960" y="1854518"/>
            <a:ext cx="30480" cy="4139565"/>
          </a:xfrm>
          <a:prstGeom prst="roundRect">
            <a:avLst>
              <a:gd name="adj" fmla="val 296870"/>
            </a:avLst>
          </a:prstGeom>
          <a:solidFill>
            <a:srgbClr val="DFB8D1"/>
          </a:solidFill>
          <a:ln/>
        </p:spPr>
      </p:sp>
      <p:sp>
        <p:nvSpPr>
          <p:cNvPr id="4" name="Shape 2"/>
          <p:cNvSpPr/>
          <p:nvPr/>
        </p:nvSpPr>
        <p:spPr>
          <a:xfrm>
            <a:off x="6457057" y="2081570"/>
            <a:ext cx="646271" cy="30480"/>
          </a:xfrm>
          <a:prstGeom prst="roundRect">
            <a:avLst>
              <a:gd name="adj" fmla="val 296870"/>
            </a:avLst>
          </a:prstGeom>
          <a:solidFill>
            <a:srgbClr val="DFB8D1"/>
          </a:solidFill>
          <a:ln/>
        </p:spPr>
      </p:sp>
      <p:sp>
        <p:nvSpPr>
          <p:cNvPr id="5" name="Shape 3"/>
          <p:cNvSpPr/>
          <p:nvPr/>
        </p:nvSpPr>
        <p:spPr>
          <a:xfrm>
            <a:off x="7072848" y="1854518"/>
            <a:ext cx="484703" cy="484703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3098" y="1906726"/>
            <a:ext cx="304086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3601522" y="1928574"/>
            <a:ext cx="2636520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Months 1–3: Validate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7724" y="2361724"/>
            <a:ext cx="5400318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 200–500 Filipino patient samples. Partner with 3–5 barangay health centers.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527072" y="3331012"/>
            <a:ext cx="646271" cy="30480"/>
          </a:xfrm>
          <a:prstGeom prst="roundRect">
            <a:avLst>
              <a:gd name="adj" fmla="val 296870"/>
            </a:avLst>
          </a:prstGeom>
          <a:solidFill>
            <a:srgbClr val="DFB8D1"/>
          </a:solidFill>
          <a:ln/>
        </p:spPr>
      </p:sp>
      <p:sp>
        <p:nvSpPr>
          <p:cNvPr id="10" name="Shape 8"/>
          <p:cNvSpPr/>
          <p:nvPr/>
        </p:nvSpPr>
        <p:spPr>
          <a:xfrm>
            <a:off x="7072848" y="3103959"/>
            <a:ext cx="484703" cy="484703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3098" y="3156168"/>
            <a:ext cx="304086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8392358" y="3178016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Months 4–6: Pilot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392358" y="3611166"/>
            <a:ext cx="5400318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in 5–10 barangays. Train 30 CHWs (8-hour program). Monitor volume and accuracy.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457057" y="4423648"/>
            <a:ext cx="646271" cy="30480"/>
          </a:xfrm>
          <a:prstGeom prst="roundRect">
            <a:avLst>
              <a:gd name="adj" fmla="val 296870"/>
            </a:avLst>
          </a:prstGeom>
          <a:solidFill>
            <a:srgbClr val="DFB8D1"/>
          </a:solidFill>
          <a:ln/>
        </p:spPr>
      </p:sp>
      <p:sp>
        <p:nvSpPr>
          <p:cNvPr id="15" name="Shape 13"/>
          <p:cNvSpPr/>
          <p:nvPr/>
        </p:nvSpPr>
        <p:spPr>
          <a:xfrm>
            <a:off x="7072848" y="4196596"/>
            <a:ext cx="484703" cy="484703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3098" y="4248805"/>
            <a:ext cx="304086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3703439" y="4270653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Months 7–18: Scale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37724" y="4703802"/>
            <a:ext cx="5400318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Expand to 100 barangays. Add multi-language support. Pursue PhilHealth reimbursement.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37724" y="6212205"/>
            <a:ext cx="12954952" cy="1184315"/>
          </a:xfrm>
          <a:prstGeom prst="roundRect">
            <a:avLst>
              <a:gd name="adj" fmla="val 7640"/>
            </a:avLst>
          </a:prstGeom>
          <a:solidFill>
            <a:srgbClr val="F6BBE1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108" y="6521529"/>
            <a:ext cx="269200" cy="21538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37692" y="6459855"/>
            <a:ext cx="12039600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Clinical integration includes establishing OB-GYN referral pathways, a specialist feedback loop, and integration with existing NCD screening programs.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4972"/>
            <a:ext cx="4866442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Risks &amp; Considerations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37724" y="1589484"/>
            <a:ext cx="2485311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Key Risks &amp; Mitigations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37724" y="2004893"/>
            <a:ext cx="6258520" cy="5348168"/>
          </a:xfrm>
          <a:prstGeom prst="roundRect">
            <a:avLst>
              <a:gd name="adj" fmla="val 141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344" y="2012513"/>
            <a:ext cx="6243280" cy="6793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5009" y="2100858"/>
            <a:ext cx="2134553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26036" y="2100858"/>
            <a:ext cx="569952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Likelihood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62463" y="2100858"/>
            <a:ext cx="56995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8889" y="2100858"/>
            <a:ext cx="151030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Mitigation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5344" y="2691884"/>
            <a:ext cx="6243280" cy="6793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5009" y="2780228"/>
            <a:ext cx="2134553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underperforms on Filipino population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6036" y="2780228"/>
            <a:ext cx="569952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62463" y="2780228"/>
            <a:ext cx="56995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8889" y="2780228"/>
            <a:ext cx="1510308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Local validation before scale-up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5344" y="3371255"/>
            <a:ext cx="6243280" cy="9307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5009" y="3459599"/>
            <a:ext cx="2134553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CHW adoption resistance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6036" y="3459599"/>
            <a:ext cx="569952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62463" y="3459599"/>
            <a:ext cx="569952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8889" y="3459599"/>
            <a:ext cx="1510308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Co-design training + P20/screening incentive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5344" y="4301966"/>
            <a:ext cx="6243280" cy="11820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5009" y="4390311"/>
            <a:ext cx="2134553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False negatives cause missed diagnoses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6036" y="4390311"/>
            <a:ext cx="569952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62463" y="4390311"/>
            <a:ext cx="56995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8889" y="4390311"/>
            <a:ext cx="1510308" cy="100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Position as screening, not diagnostic; specialist SOP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5344" y="5484019"/>
            <a:ext cx="6243280" cy="9307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5009" y="5572363"/>
            <a:ext cx="2134553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privacy concerns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6036" y="5572363"/>
            <a:ext cx="56995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62463" y="5572363"/>
            <a:ext cx="56995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8889" y="5572363"/>
            <a:ext cx="1510308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Encryption, DPA 2012 compliance, patient consent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45344" y="6414730"/>
            <a:ext cx="6243280" cy="9307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25009" y="6503075"/>
            <a:ext cx="2134553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Regulatory delays (FDA SaMD)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6036" y="6503075"/>
            <a:ext cx="569952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62463" y="6503075"/>
            <a:ext cx="569952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8889" y="6503075"/>
            <a:ext cx="1510308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Pre-submission consultation, Class A pathway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41776" y="1589484"/>
            <a:ext cx="230076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Ethical Commitments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7541776" y="2004893"/>
            <a:ext cx="6258520" cy="1054418"/>
          </a:xfrm>
          <a:prstGeom prst="roundRect">
            <a:avLst>
              <a:gd name="adj" fmla="val 1040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FB8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18916" y="2004893"/>
            <a:ext cx="91440" cy="1054418"/>
          </a:xfrm>
          <a:prstGeom prst="roundRect">
            <a:avLst>
              <a:gd name="adj" fmla="val 82464"/>
            </a:avLst>
          </a:prstGeom>
          <a:solidFill>
            <a:srgbClr val="E851B2"/>
          </a:solidFill>
          <a:ln/>
        </p:spPr>
      </p:sp>
      <p:sp>
        <p:nvSpPr>
          <p:cNvPr id="38" name="Text 36"/>
          <p:cNvSpPr/>
          <p:nvPr/>
        </p:nvSpPr>
        <p:spPr>
          <a:xfrm>
            <a:off x="7812643" y="2207181"/>
            <a:ext cx="2635568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Screening, Not Diagnosis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7812643" y="2605683"/>
            <a:ext cx="57853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clinical decisions rest with specialists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541776" y="3193852"/>
            <a:ext cx="6258520" cy="1054418"/>
          </a:xfrm>
          <a:prstGeom prst="roundRect">
            <a:avLst>
              <a:gd name="adj" fmla="val 1040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FB8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18916" y="3193852"/>
            <a:ext cx="91440" cy="1054418"/>
          </a:xfrm>
          <a:prstGeom prst="roundRect">
            <a:avLst>
              <a:gd name="adj" fmla="val 82464"/>
            </a:avLst>
          </a:prstGeom>
          <a:solidFill>
            <a:srgbClr val="E851B2"/>
          </a:solidFill>
          <a:ln/>
        </p:spPr>
      </p:sp>
      <p:sp>
        <p:nvSpPr>
          <p:cNvPr id="42" name="Text 40"/>
          <p:cNvSpPr/>
          <p:nvPr/>
        </p:nvSpPr>
        <p:spPr>
          <a:xfrm>
            <a:off x="7812643" y="3396139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Transparent AI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7812643" y="3794641"/>
            <a:ext cx="57853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prediction includes contributing factor explanations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541776" y="4382810"/>
            <a:ext cx="6258520" cy="1054418"/>
          </a:xfrm>
          <a:prstGeom prst="roundRect">
            <a:avLst>
              <a:gd name="adj" fmla="val 1040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FB8D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18916" y="4382810"/>
            <a:ext cx="91440" cy="1054418"/>
          </a:xfrm>
          <a:prstGeom prst="roundRect">
            <a:avLst>
              <a:gd name="adj" fmla="val 82464"/>
            </a:avLst>
          </a:prstGeom>
          <a:solidFill>
            <a:srgbClr val="E851B2"/>
          </a:solidFill>
          <a:ln/>
        </p:spPr>
      </p:sp>
      <p:sp>
        <p:nvSpPr>
          <p:cNvPr id="46" name="Text 44"/>
          <p:cNvSpPr/>
          <p:nvPr/>
        </p:nvSpPr>
        <p:spPr>
          <a:xfrm>
            <a:off x="7812643" y="458509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Bias Monitoring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7812643" y="4983599"/>
            <a:ext cx="57853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Ongoing fairness audits across demographic groups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541776" y="5588675"/>
            <a:ext cx="6258520" cy="892731"/>
          </a:xfrm>
          <a:prstGeom prst="roundRect">
            <a:avLst>
              <a:gd name="adj" fmla="val 8447"/>
            </a:avLst>
          </a:prstGeom>
          <a:solidFill>
            <a:srgbClr val="F6BBE1"/>
          </a:solidFill>
          <a:ln/>
        </p:spPr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203" y="5838706"/>
            <a:ext cx="224314" cy="179427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8124944" y="5767983"/>
            <a:ext cx="5495925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Known limitation: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Training data from India — local validation is essential before 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767" y="629960"/>
            <a:ext cx="6168152" cy="43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Investment &amp; 3-Year ROI Projection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801767" y="1299210"/>
            <a:ext cx="1836539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Investment Required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01767" y="1622227"/>
            <a:ext cx="6331863" cy="2192179"/>
          </a:xfrm>
          <a:prstGeom prst="roundRect">
            <a:avLst>
              <a:gd name="adj" fmla="val 285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387" y="1629847"/>
            <a:ext cx="6316623" cy="3194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8572" y="1692950"/>
            <a:ext cx="1593413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57262" y="1692950"/>
            <a:ext cx="95797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Timeline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20515" y="1692950"/>
            <a:ext cx="95797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83768" y="1692950"/>
            <a:ext cx="1593413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9387" y="1949291"/>
            <a:ext cx="6316623" cy="5126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8572" y="2012394"/>
            <a:ext cx="1593413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57262" y="2012394"/>
            <a:ext cx="95797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Months 1–3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20515" y="2012394"/>
            <a:ext cx="95797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P1.5M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83768" y="2012394"/>
            <a:ext cx="1593413" cy="386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Clinical validation on Filipino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387" y="2461974"/>
            <a:ext cx="6316623" cy="5126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58572" y="2525078"/>
            <a:ext cx="1593413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Pilot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57262" y="2525078"/>
            <a:ext cx="95797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Months 4–6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20515" y="2525078"/>
            <a:ext cx="95797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P2.5M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83768" y="2525078"/>
            <a:ext cx="1593413" cy="386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barangays live, 1,800 screenings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9387" y="2974658"/>
            <a:ext cx="6316623" cy="5126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8572" y="3037761"/>
            <a:ext cx="1593413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Scale-up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57262" y="3037761"/>
            <a:ext cx="95797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Months 7–18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20515" y="3037761"/>
            <a:ext cx="95797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P5.5M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83768" y="3037761"/>
            <a:ext cx="1593413" cy="386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 barangays, 18,000 screenings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9387" y="3487341"/>
            <a:ext cx="6316623" cy="3194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58572" y="3550444"/>
            <a:ext cx="1593413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857262" y="3550444"/>
            <a:ext cx="95797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 months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20515" y="3550444"/>
            <a:ext cx="95797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P9.5M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83768" y="3550444"/>
            <a:ext cx="1593413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Operational program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04390" y="1310878"/>
            <a:ext cx="914917" cy="116913"/>
          </a:xfrm>
          <a:prstGeom prst="roundRect">
            <a:avLst>
              <a:gd name="adj" fmla="val 10949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290" y="1336849"/>
            <a:ext cx="64970" cy="6497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628917" y="1327121"/>
            <a:ext cx="752490" cy="84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32338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Healthcare Savings (P M)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462621" y="1310878"/>
            <a:ext cx="752152" cy="116913"/>
          </a:xfrm>
          <a:prstGeom prst="roundRect">
            <a:avLst>
              <a:gd name="adj" fmla="val 10949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520" y="1336849"/>
            <a:ext cx="64971" cy="6497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587147" y="1327121"/>
            <a:ext cx="589726" cy="84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32338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Program Cost (P M)</a:t>
            </a:r>
            <a:endParaRPr lang="en-US" sz="70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390" y="1481933"/>
            <a:ext cx="4114800" cy="216568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917440" y="3243392"/>
            <a:ext cx="134764" cy="10287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192</a:t>
            </a:r>
            <a:endParaRPr lang="en-US" sz="650" dirty="0"/>
          </a:p>
        </p:txBody>
      </p:sp>
      <p:sp>
        <p:nvSpPr>
          <p:cNvPr id="38" name="Text 33"/>
          <p:cNvSpPr/>
          <p:nvPr/>
        </p:nvSpPr>
        <p:spPr>
          <a:xfrm>
            <a:off x="8393175" y="3262715"/>
            <a:ext cx="116660" cy="10287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9.5</a:t>
            </a:r>
            <a:endParaRPr lang="en-US" sz="650" dirty="0"/>
          </a:p>
        </p:txBody>
      </p:sp>
      <p:sp>
        <p:nvSpPr>
          <p:cNvPr id="39" name="Text 34"/>
          <p:cNvSpPr/>
          <p:nvPr/>
        </p:nvSpPr>
        <p:spPr>
          <a:xfrm>
            <a:off x="9215047" y="2721029"/>
            <a:ext cx="134763" cy="10287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768</a:t>
            </a:r>
            <a:endParaRPr lang="en-US" sz="650" dirty="0"/>
          </a:p>
        </p:txBody>
      </p:sp>
      <p:sp>
        <p:nvSpPr>
          <p:cNvPr id="40" name="Text 35"/>
          <p:cNvSpPr/>
          <p:nvPr/>
        </p:nvSpPr>
        <p:spPr>
          <a:xfrm>
            <a:off x="9698775" y="3257727"/>
            <a:ext cx="100671" cy="10287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</a:t>
            </a:r>
            <a:endParaRPr lang="en-US" sz="650" dirty="0"/>
          </a:p>
        </p:txBody>
      </p:sp>
      <p:sp>
        <p:nvSpPr>
          <p:cNvPr id="41" name="Text 36"/>
          <p:cNvSpPr/>
          <p:nvPr/>
        </p:nvSpPr>
        <p:spPr>
          <a:xfrm>
            <a:off x="10488796" y="1676303"/>
            <a:ext cx="182475" cy="10287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1.92k</a:t>
            </a:r>
            <a:endParaRPr lang="en-US" sz="650" dirty="0"/>
          </a:p>
        </p:txBody>
      </p:sp>
      <p:sp>
        <p:nvSpPr>
          <p:cNvPr id="42" name="Text 37"/>
          <p:cNvSpPr/>
          <p:nvPr/>
        </p:nvSpPr>
        <p:spPr>
          <a:xfrm>
            <a:off x="10996382" y="3248658"/>
            <a:ext cx="100670" cy="10287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25</a:t>
            </a:r>
            <a:endParaRPr lang="en-US" sz="650" dirty="0"/>
          </a:p>
        </p:txBody>
      </p:sp>
      <p:sp>
        <p:nvSpPr>
          <p:cNvPr id="43" name="Text 38"/>
          <p:cNvSpPr/>
          <p:nvPr/>
        </p:nvSpPr>
        <p:spPr>
          <a:xfrm>
            <a:off x="1931432" y="5139452"/>
            <a:ext cx="4196120" cy="49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180K</a:t>
            </a:r>
            <a:endParaRPr lang="en-US" sz="3850" dirty="0"/>
          </a:p>
        </p:txBody>
      </p:sp>
      <p:sp>
        <p:nvSpPr>
          <p:cNvPr id="44" name="Text 39"/>
          <p:cNvSpPr/>
          <p:nvPr/>
        </p:nvSpPr>
        <p:spPr>
          <a:xfrm>
            <a:off x="3153608" y="5774650"/>
            <a:ext cx="1751767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Women Screened</a:t>
            </a:r>
            <a:endParaRPr lang="en-US" sz="1350" dirty="0"/>
          </a:p>
        </p:txBody>
      </p:sp>
      <p:sp>
        <p:nvSpPr>
          <p:cNvPr id="45" name="Text 40"/>
          <p:cNvSpPr/>
          <p:nvPr/>
        </p:nvSpPr>
        <p:spPr>
          <a:xfrm>
            <a:off x="801767" y="6048970"/>
            <a:ext cx="6455569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 Year 3</a:t>
            </a:r>
            <a:endParaRPr lang="en-US" sz="1150" dirty="0"/>
          </a:p>
        </p:txBody>
      </p:sp>
      <p:sp>
        <p:nvSpPr>
          <p:cNvPr id="46" name="Text 41"/>
          <p:cNvSpPr/>
          <p:nvPr/>
        </p:nvSpPr>
        <p:spPr>
          <a:xfrm>
            <a:off x="8502729" y="5139452"/>
            <a:ext cx="4196120" cy="49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16K</a:t>
            </a:r>
            <a:endParaRPr lang="en-US" sz="3850" dirty="0"/>
          </a:p>
        </p:txBody>
      </p:sp>
      <p:sp>
        <p:nvSpPr>
          <p:cNvPr id="47" name="Text 42"/>
          <p:cNvSpPr/>
          <p:nvPr/>
        </p:nvSpPr>
        <p:spPr>
          <a:xfrm>
            <a:off x="9724906" y="5774650"/>
            <a:ext cx="1751767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Early Detections</a:t>
            </a:r>
            <a:endParaRPr lang="en-US" sz="1350" dirty="0"/>
          </a:p>
        </p:txBody>
      </p:sp>
      <p:sp>
        <p:nvSpPr>
          <p:cNvPr id="48" name="Text 43"/>
          <p:cNvSpPr/>
          <p:nvPr/>
        </p:nvSpPr>
        <p:spPr>
          <a:xfrm>
            <a:off x="7373064" y="6048970"/>
            <a:ext cx="6455569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 Year 3</a:t>
            </a:r>
            <a:endParaRPr lang="en-US" sz="1150" dirty="0"/>
          </a:p>
        </p:txBody>
      </p:sp>
      <p:sp>
        <p:nvSpPr>
          <p:cNvPr id="49" name="Text 44"/>
          <p:cNvSpPr/>
          <p:nvPr/>
        </p:nvSpPr>
        <p:spPr>
          <a:xfrm>
            <a:off x="1931432" y="6501765"/>
            <a:ext cx="4196120" cy="49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P1.9B</a:t>
            </a:r>
            <a:endParaRPr lang="en-US" sz="3850" dirty="0"/>
          </a:p>
        </p:txBody>
      </p:sp>
      <p:sp>
        <p:nvSpPr>
          <p:cNvPr id="50" name="Text 45"/>
          <p:cNvSpPr/>
          <p:nvPr/>
        </p:nvSpPr>
        <p:spPr>
          <a:xfrm>
            <a:off x="3153608" y="7136963"/>
            <a:ext cx="1751767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Healthcare Savings</a:t>
            </a:r>
            <a:endParaRPr lang="en-US" sz="1350" dirty="0"/>
          </a:p>
        </p:txBody>
      </p:sp>
      <p:sp>
        <p:nvSpPr>
          <p:cNvPr id="51" name="Text 46"/>
          <p:cNvSpPr/>
          <p:nvPr/>
        </p:nvSpPr>
        <p:spPr>
          <a:xfrm>
            <a:off x="801767" y="7411283"/>
            <a:ext cx="6455569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Projected Year 3</a:t>
            </a:r>
            <a:endParaRPr lang="en-US" sz="1150" dirty="0"/>
          </a:p>
        </p:txBody>
      </p:sp>
      <p:sp>
        <p:nvSpPr>
          <p:cNvPr id="52" name="Text 47"/>
          <p:cNvSpPr/>
          <p:nvPr/>
        </p:nvSpPr>
        <p:spPr>
          <a:xfrm>
            <a:off x="8502729" y="6501765"/>
            <a:ext cx="4196120" cy="49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P71</a:t>
            </a:r>
            <a:endParaRPr lang="en-US" sz="3850" dirty="0"/>
          </a:p>
        </p:txBody>
      </p:sp>
      <p:sp>
        <p:nvSpPr>
          <p:cNvPr id="53" name="Text 48"/>
          <p:cNvSpPr/>
          <p:nvPr/>
        </p:nvSpPr>
        <p:spPr>
          <a:xfrm>
            <a:off x="9724906" y="7136963"/>
            <a:ext cx="1751767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Return Per Peso</a:t>
            </a:r>
            <a:endParaRPr lang="en-US" sz="1350" dirty="0"/>
          </a:p>
        </p:txBody>
      </p:sp>
      <p:sp>
        <p:nvSpPr>
          <p:cNvPr id="54" name="Text 49"/>
          <p:cNvSpPr/>
          <p:nvPr/>
        </p:nvSpPr>
        <p:spPr>
          <a:xfrm>
            <a:off x="7373064" y="7411283"/>
            <a:ext cx="6455569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avoided complications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92969"/>
            <a:ext cx="3942636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Call to Action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324124" y="1678781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What We Need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324124" y="2057162"/>
            <a:ext cx="3529846" cy="1561743"/>
          </a:xfrm>
          <a:prstGeom prst="roundRect">
            <a:avLst>
              <a:gd name="adj" fmla="val 4506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99265" y="2232303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E851B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37496" y="2370534"/>
            <a:ext cx="226100" cy="2261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9265" y="2852261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P9.5M Funding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499265" y="3215997"/>
            <a:ext cx="3179564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18-month pilot and scale-up program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324124" y="3736181"/>
            <a:ext cx="3529846" cy="1789509"/>
          </a:xfrm>
          <a:prstGeom prst="roundRect">
            <a:avLst>
              <a:gd name="adj" fmla="val 3933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99265" y="3911322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E851B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7496" y="4049554"/>
            <a:ext cx="226100" cy="2261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99265" y="4531281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Partnerships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499265" y="4895017"/>
            <a:ext cx="3179564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DOH, LGUs, PhilHealth, healthcare foundations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324124" y="5642967"/>
            <a:ext cx="3529846" cy="1561743"/>
          </a:xfrm>
          <a:prstGeom prst="roundRect">
            <a:avLst>
              <a:gd name="adj" fmla="val 4506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99265" y="5818108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E851B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7496" y="5956340"/>
            <a:ext cx="226100" cy="2261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9265" y="6438067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Clinical Partners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499265" y="6801803"/>
            <a:ext cx="3179564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OB-GYN referral networks in pilot regions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270450" y="1678781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Next 30 Days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10270450" y="2057162"/>
            <a:ext cx="167521" cy="20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01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10270450" y="2318980"/>
            <a:ext cx="3529846" cy="2286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3" name="Text 17"/>
          <p:cNvSpPr/>
          <p:nvPr/>
        </p:nvSpPr>
        <p:spPr>
          <a:xfrm>
            <a:off x="10270450" y="2448401"/>
            <a:ext cx="3529846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Schedule validation study protocol review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10270450" y="3184207"/>
            <a:ext cx="167521" cy="20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02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10270450" y="3446026"/>
            <a:ext cx="3529846" cy="2286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6" name="Text 20"/>
          <p:cNvSpPr/>
          <p:nvPr/>
        </p:nvSpPr>
        <p:spPr>
          <a:xfrm>
            <a:off x="10270450" y="3575447"/>
            <a:ext cx="3529846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Confirm 5 pilot barangay partnerships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10270450" y="4311253"/>
            <a:ext cx="167521" cy="20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10270450" y="4573072"/>
            <a:ext cx="3529846" cy="2286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9" name="Text 23"/>
          <p:cNvSpPr/>
          <p:nvPr/>
        </p:nvSpPr>
        <p:spPr>
          <a:xfrm>
            <a:off x="10270450" y="4702493"/>
            <a:ext cx="3529846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Initiate FDA SaMD pre-submission consultation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10270450" y="5438299"/>
            <a:ext cx="167521" cy="20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10270450" y="5700117"/>
            <a:ext cx="3529846" cy="2286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32" name="Text 26"/>
          <p:cNvSpPr/>
          <p:nvPr/>
        </p:nvSpPr>
        <p:spPr>
          <a:xfrm>
            <a:off x="10270450" y="5829538"/>
            <a:ext cx="3529846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Begin CHW training program design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727835"/>
            <a:ext cx="7468553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0"/>
              </a:lnSpc>
              <a:buNone/>
            </a:pPr>
            <a:r>
              <a:rPr lang="en-US" sz="61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Every Filipino Woman Deserves Early Detection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837724" y="500145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Regardless of geography or income — access to PCOS screening through her local barangay health center.</a:t>
            </a: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176" y="657463"/>
            <a:ext cx="5270182" cy="491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References &amp; Methodology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836176" y="1383030"/>
            <a:ext cx="12958048" cy="801886"/>
          </a:xfrm>
          <a:prstGeom prst="roundRect">
            <a:avLst>
              <a:gd name="adj" fmla="val 8760"/>
            </a:avLst>
          </a:prstGeom>
          <a:solidFill>
            <a:srgbClr val="F6BBE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40" y="1605677"/>
            <a:ext cx="208955" cy="1671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9458" y="1541621"/>
            <a:ext cx="12247602" cy="45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Financial projections are estimates for illustrative purposes. Figures marked "estimated" or "projected" are derived from the sources below and should be validated with local data before investment decisions.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36176" y="2433161"/>
            <a:ext cx="1967627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Key Sources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3316" y="2787729"/>
            <a:ext cx="45720" cy="1563648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8" name="Text 5"/>
          <p:cNvSpPr/>
          <p:nvPr/>
        </p:nvSpPr>
        <p:spPr>
          <a:xfrm>
            <a:off x="1049060" y="2810589"/>
            <a:ext cx="2851666" cy="491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[1–3] Prevalence &amp; Diagnosis Rate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49060" y="3419356"/>
            <a:ext cx="2851666" cy="909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Lizneva et al. (2016); PSA 2020 Census; March et al. (2010). 10% prevalence, 80% undiagnosed used as conservative estimates.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23836" y="2787729"/>
            <a:ext cx="45720" cy="1563648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1" name="Text 8"/>
          <p:cNvSpPr/>
          <p:nvPr/>
        </p:nvSpPr>
        <p:spPr>
          <a:xfrm>
            <a:off x="4259580" y="2810589"/>
            <a:ext cx="2129076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[4–5] Access Gap Data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59580" y="3173373"/>
            <a:ext cx="2851666" cy="68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DOH National Health Facility Registry &amp; PhilHealth Annual Report (2023). Access figures are modeled estimates.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3316" y="4539377"/>
            <a:ext cx="45720" cy="1790938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4" name="Text 11"/>
          <p:cNvSpPr/>
          <p:nvPr/>
        </p:nvSpPr>
        <p:spPr>
          <a:xfrm>
            <a:off x="1049060" y="4562237"/>
            <a:ext cx="2436852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[6–7] Complication Costs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49060" y="4925020"/>
            <a:ext cx="2851666" cy="113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 et al. (2022) for diabetes (P80K–P120K/yr); Tumanan-Mendoza et al. (2017) for CVD (P200K–P500K/event). P380K lifetime cost is a composite estimate.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023836" y="4539377"/>
            <a:ext cx="45720" cy="1790938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7" name="Text 14"/>
          <p:cNvSpPr/>
          <p:nvPr/>
        </p:nvSpPr>
        <p:spPr>
          <a:xfrm>
            <a:off x="4259580" y="4562237"/>
            <a:ext cx="2851666" cy="491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[8–11] Intervention &amp; Operations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259580" y="5171003"/>
            <a:ext cx="2851666" cy="113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Teede et al. (2018): lifestyle interventions reduce complications 40–80%. P150/screening = projected operational cost. CHW incentive benchmarked against DOH BHW allowance structures.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26774" y="2433161"/>
            <a:ext cx="2362319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Projection Methodology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526774" y="3061454"/>
            <a:ext cx="3079075" cy="1652707"/>
          </a:xfrm>
          <a:prstGeom prst="roundRect">
            <a:avLst>
              <a:gd name="adj" fmla="val 6639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526774" y="3038594"/>
            <a:ext cx="3079075" cy="91440"/>
          </a:xfrm>
          <a:prstGeom prst="roundRect">
            <a:avLst>
              <a:gd name="adj" fmla="val 76824"/>
            </a:avLst>
          </a:prstGeom>
          <a:solidFill>
            <a:srgbClr val="E851B2"/>
          </a:solidFill>
          <a:ln/>
        </p:spPr>
      </p:sp>
      <p:sp>
        <p:nvSpPr>
          <p:cNvPr id="22" name="Shape 19"/>
          <p:cNvSpPr/>
          <p:nvPr/>
        </p:nvSpPr>
        <p:spPr>
          <a:xfrm>
            <a:off x="8815388" y="2810589"/>
            <a:ext cx="501729" cy="501729"/>
          </a:xfrm>
          <a:prstGeom prst="roundRect">
            <a:avLst>
              <a:gd name="adj" fmla="val 182250"/>
            </a:avLst>
          </a:prstGeom>
          <a:solidFill>
            <a:srgbClr val="E851B2"/>
          </a:solidFill>
          <a:ln/>
        </p:spPr>
      </p:sp>
      <p:sp>
        <p:nvSpPr>
          <p:cNvPr id="23" name="Text 20"/>
          <p:cNvSpPr/>
          <p:nvPr/>
        </p:nvSpPr>
        <p:spPr>
          <a:xfrm>
            <a:off x="8965883" y="2935962"/>
            <a:ext cx="200620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1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7716798" y="3479483"/>
            <a:ext cx="1967627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Prevalence Model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716798" y="3842266"/>
            <a:ext cx="2699028" cy="68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10% PCOS prevalence × target screening population = expected positives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722650" y="3061454"/>
            <a:ext cx="3079194" cy="1652707"/>
          </a:xfrm>
          <a:prstGeom prst="roundRect">
            <a:avLst>
              <a:gd name="adj" fmla="val 6639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0722650" y="3038594"/>
            <a:ext cx="3079194" cy="91440"/>
          </a:xfrm>
          <a:prstGeom prst="roundRect">
            <a:avLst>
              <a:gd name="adj" fmla="val 76824"/>
            </a:avLst>
          </a:prstGeom>
          <a:solidFill>
            <a:srgbClr val="E851B2"/>
          </a:solidFill>
          <a:ln/>
        </p:spPr>
      </p:sp>
      <p:sp>
        <p:nvSpPr>
          <p:cNvPr id="28" name="Shape 25"/>
          <p:cNvSpPr/>
          <p:nvPr/>
        </p:nvSpPr>
        <p:spPr>
          <a:xfrm>
            <a:off x="12011382" y="2810589"/>
            <a:ext cx="501729" cy="501729"/>
          </a:xfrm>
          <a:prstGeom prst="roundRect">
            <a:avLst>
              <a:gd name="adj" fmla="val 182250"/>
            </a:avLst>
          </a:prstGeom>
          <a:solidFill>
            <a:srgbClr val="E851B2"/>
          </a:solidFill>
          <a:ln/>
        </p:spPr>
      </p:sp>
      <p:sp>
        <p:nvSpPr>
          <p:cNvPr id="29" name="Text 26"/>
          <p:cNvSpPr/>
          <p:nvPr/>
        </p:nvSpPr>
        <p:spPr>
          <a:xfrm>
            <a:off x="12161877" y="2935962"/>
            <a:ext cx="200620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2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10912673" y="3479483"/>
            <a:ext cx="1967627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Detection Model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0912673" y="3842266"/>
            <a:ext cx="2699147" cy="45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Expected positives × model recall (88.9%) = true positives caught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526774" y="5081826"/>
            <a:ext cx="6275070" cy="1425416"/>
          </a:xfrm>
          <a:prstGeom prst="roundRect">
            <a:avLst>
              <a:gd name="adj" fmla="val 7698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7526774" y="5058966"/>
            <a:ext cx="6275070" cy="91440"/>
          </a:xfrm>
          <a:prstGeom prst="roundRect">
            <a:avLst>
              <a:gd name="adj" fmla="val 76824"/>
            </a:avLst>
          </a:prstGeom>
          <a:solidFill>
            <a:srgbClr val="E851B2"/>
          </a:solidFill>
          <a:ln/>
        </p:spPr>
      </p:sp>
      <p:sp>
        <p:nvSpPr>
          <p:cNvPr id="34" name="Shape 31"/>
          <p:cNvSpPr/>
          <p:nvPr/>
        </p:nvSpPr>
        <p:spPr>
          <a:xfrm>
            <a:off x="10413444" y="4830961"/>
            <a:ext cx="501729" cy="501729"/>
          </a:xfrm>
          <a:prstGeom prst="roundRect">
            <a:avLst>
              <a:gd name="adj" fmla="val 182250"/>
            </a:avLst>
          </a:prstGeom>
          <a:solidFill>
            <a:srgbClr val="E851B2"/>
          </a:solidFill>
          <a:ln/>
        </p:spPr>
      </p:sp>
      <p:sp>
        <p:nvSpPr>
          <p:cNvPr id="35" name="Text 32"/>
          <p:cNvSpPr/>
          <p:nvPr/>
        </p:nvSpPr>
        <p:spPr>
          <a:xfrm>
            <a:off x="10563939" y="4956334"/>
            <a:ext cx="200620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3</a:t>
            </a:r>
            <a:endParaRPr lang="en-US" sz="1550" dirty="0"/>
          </a:p>
        </p:txBody>
      </p:sp>
      <p:sp>
        <p:nvSpPr>
          <p:cNvPr id="36" name="Text 33"/>
          <p:cNvSpPr/>
          <p:nvPr/>
        </p:nvSpPr>
        <p:spPr>
          <a:xfrm>
            <a:off x="7716798" y="5499854"/>
            <a:ext cx="1967627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Savings Model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716798" y="5862637"/>
            <a:ext cx="5895023" cy="45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True positives × 80% previously undiagnosed × P150K avoided cost = healthcare savings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7526774" y="6638687"/>
            <a:ext cx="6275070" cy="801886"/>
          </a:xfrm>
          <a:prstGeom prst="roundRect">
            <a:avLst>
              <a:gd name="adj" fmla="val 8760"/>
            </a:avLst>
          </a:prstGeom>
          <a:solidFill>
            <a:srgbClr val="F6BBE1"/>
          </a:solidFill>
          <a:ln/>
        </p:spPr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938" y="6861334"/>
            <a:ext cx="208955" cy="167164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8070056" y="6797278"/>
            <a:ext cx="5564624" cy="45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financial projections are </a:t>
            </a:r>
            <a:r>
              <a:rPr lang="en-US" sz="13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pre-validation estimates</a:t>
            </a: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will be refined after the local validation study (Phase 1).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1113</Words>
  <Application>Microsoft Office PowerPoint</Application>
  <PresentationFormat>Custom</PresentationFormat>
  <Paragraphs>240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Noto Serif HK Light</vt:lpstr>
      <vt:lpstr>Noto Serif HK Semi Bold</vt:lpstr>
      <vt:lpstr>Arial</vt:lpstr>
      <vt:lpstr>-apple-system, BlinkMacSystemFont, Segoe UI, Roboto, Helvetica Neue, Arial, sans-serif Medium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Jumeil John Navares</cp:lastModifiedBy>
  <cp:revision>2</cp:revision>
  <dcterms:created xsi:type="dcterms:W3CDTF">2026-04-05T13:11:50Z</dcterms:created>
  <dcterms:modified xsi:type="dcterms:W3CDTF">2026-04-05T13:21:04Z</dcterms:modified>
</cp:coreProperties>
</file>